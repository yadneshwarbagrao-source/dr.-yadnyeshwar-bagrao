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1" r:id="rId2"/>
    <p:sldId id="2562" r:id="rId3"/>
    <p:sldId id="2563" r:id="rId4"/>
    <p:sldId id="2564" r:id="rId5"/>
    <p:sldId id="2565" r:id="rId6"/>
    <p:sldId id="2572" r:id="rId7"/>
    <p:sldId id="2573" r:id="rId8"/>
    <p:sldId id="2574" r:id="rId9"/>
    <p:sldId id="2575" r:id="rId10"/>
    <p:sldId id="2566" r:id="rId11"/>
    <p:sldId id="2567" r:id="rId12"/>
    <p:sldId id="2576" r:id="rId13"/>
    <p:sldId id="2577" r:id="rId14"/>
    <p:sldId id="2578" r:id="rId15"/>
    <p:sldId id="2579" r:id="rId16"/>
    <p:sldId id="2580" r:id="rId17"/>
    <p:sldId id="2581" r:id="rId18"/>
    <p:sldId id="2582" r:id="rId19"/>
    <p:sldId id="2583" r:id="rId20"/>
    <p:sldId id="2584" r:id="rId21"/>
    <p:sldId id="2587" r:id="rId22"/>
    <p:sldId id="2585" r:id="rId23"/>
    <p:sldId id="258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stone Project: Economic Impact of Cyber Warfare Using Design Thinking" id="{120F0D31-2C84-44D5-BAA0-4F5B3EF099BF}">
          <p14:sldIdLst>
            <p14:sldId id="2561"/>
          </p14:sldIdLst>
        </p14:section>
        <p14:section name="Project Context and Rationale" id="{F12F2986-4679-4EB8-871D-E667E0CCA315}">
          <p14:sldIdLst>
            <p14:sldId id="2562"/>
            <p14:sldId id="2563"/>
          </p14:sldIdLst>
        </p14:section>
        <p14:section name="Objectives, Goals, and Project Planning" id="{A69F0393-670C-4991-BB25-A1567F069DB9}">
          <p14:sldIdLst>
            <p14:sldId id="2564"/>
            <p14:sldId id="2565"/>
            <p14:sldId id="2572"/>
            <p14:sldId id="2573"/>
            <p14:sldId id="2574"/>
            <p14:sldId id="2575"/>
          </p14:sldIdLst>
        </p14:section>
        <p14:section name="Design Thinking Phase I: Scope" id="{CFE7F086-6719-4076-B5DD-503160B6C38E}">
          <p14:sldIdLst>
            <p14:sldId id="2566"/>
            <p14:sldId id="2567"/>
            <p14:sldId id="2576"/>
            <p14:sldId id="2577"/>
            <p14:sldId id="2578"/>
            <p14:sldId id="2579"/>
            <p14:sldId id="2580"/>
            <p14:sldId id="2581"/>
            <p14:sldId id="2582"/>
            <p14:sldId id="2583"/>
            <p14:sldId id="2584"/>
            <p14:sldId id="2587"/>
            <p14:sldId id="2585"/>
            <p14:sldId id="2586"/>
          </p14:sldIdLst>
        </p14:section>
        <p14:section name="Design Thinking Phase II and III: Empathize and Define" id="{1D9DE400-4AB8-4901-B6EB-1204E566F411}">
          <p14:sldIdLst/>
        </p14:section>
        <p14:section name="Design Thinking Phase IV to VI: Ideate, Prototype, and Validation" id="{16EE8223-FEA2-4EB8-B23C-E9E33B454DD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CF7408-E832-4AED-A1FD-D3A4B9D67F14}" type="datetimeFigureOut">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ED1263-4EC5-4229-82C6-3B9F2C2AD437}" type="slidenum">
              <a:t>‹#›</a:t>
            </a:fld>
            <a:endParaRPr lang="en-US"/>
          </a:p>
        </p:txBody>
      </p:sp>
    </p:spTree>
    <p:extLst>
      <p:ext uri="{BB962C8B-B14F-4D97-AF65-F5344CB8AC3E}">
        <p14:creationId xmlns:p14="http://schemas.microsoft.com/office/powerpoint/2010/main" val="4082912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D10302F-4F1A-4943-8927-CFA4CB4C0695}" type="slidenum">
              <a:t>1</a:t>
            </a:fld>
            <a:endParaRPr lang="en-US"/>
          </a:p>
        </p:txBody>
      </p:sp>
    </p:spTree>
    <p:extLst>
      <p:ext uri="{BB962C8B-B14F-4D97-AF65-F5344CB8AC3E}">
        <p14:creationId xmlns:p14="http://schemas.microsoft.com/office/powerpoint/2010/main" val="740728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https://birlacollege-my.sharepoint.com/personal/mitali_sawant_bkbck_edu_in/_layouts/15/Doc.aspx?sourcedoc=%7B43AF1D50-294D-497A-9FCF-FC8D26587B73%7D&amp;file=Capstone.docx&amp;action=default&amp;mobileredirect=true
Problem Statement and Economic Relevance of Cyber Warfare
</a:t>
            </a:r>
          </a:p>
        </p:txBody>
      </p:sp>
      <p:sp>
        <p:nvSpPr>
          <p:cNvPr id="4" name="Slide Number Placeholder 3"/>
          <p:cNvSpPr>
            <a:spLocks noGrp="1"/>
          </p:cNvSpPr>
          <p:nvPr>
            <p:ph type="sldNum" sz="quarter" idx="5"/>
          </p:nvPr>
        </p:nvSpPr>
        <p:spPr/>
        <p:txBody>
          <a:bodyPr/>
          <a:lstStyle/>
          <a:p>
            <a:fld id="{3D10302F-4F1A-4943-8927-CFA4CB4C0695}" type="slidenum">
              <a:t>2</a:t>
            </a:fld>
            <a:endParaRPr lang="en-US"/>
          </a:p>
        </p:txBody>
      </p:sp>
    </p:spTree>
    <p:extLst>
      <p:ext uri="{BB962C8B-B14F-4D97-AF65-F5344CB8AC3E}">
        <p14:creationId xmlns:p14="http://schemas.microsoft.com/office/powerpoint/2010/main" val="566804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https://birlacollege-my.sharepoint.com/personal/mitali_sawant_bkbck_edu_in/_layouts/15/Doc.aspx?sourcedoc=%7B43AF1D50-294D-497A-9FCF-FC8D26587B73%7D&amp;file=Capstone.docx&amp;action=default&amp;mobileredirect=true
Cyber warfare has emerged as a critical non-traditional threat with far‑reaching economic consequences for nations and global markets. Rapid digitalisation of financial systems, government services, and supply chains has created systemic vulnerabilities that can be exploited through state-sponsored cyber attacks. Incidents such as attacks on central banks, digital payment platforms, and energy grids demonstrate how cyber warfare can destabilize national liquidity, disrupt trade, and erode investor confidence. For example, cyber intrusions targeting payment gateways like SWIFT or UPI can temporarily paralyse financial transactions, triggering panic in markets and reducing public trust in digital systems. Beyond direct financial losses, cyber warfare enables intellectual property theft, allowing adversarial states to bypass years of research and development, thereby undermining long‑term economic competitiveness. The interconnected nature of global supply chains further amplifies these risks, as breaches in one organisation can cascade across industries and borders, as seen in large‑scale supply‑chain attacks. This project addresses cyber warfare not only as a security issue but as a systemic economic risk that threatens macroeconomic stability, digital growth, and national resilience. By framing the problem through a design thinking lens, the project emphasizes stakeholder‑centric understanding, structured problem definition, and the development of feasible economic and policy solutions. The capstone project therefore aims to build a comprehensive understanding of how cyber warfare impacts economic systems, why traditional reactive security models are insufficient, and how innovative, design‑driven approaches can reduce long‑term economic damage while strengthening trust in digital ecosystems.
</a:t>
            </a:r>
          </a:p>
        </p:txBody>
      </p:sp>
      <p:sp>
        <p:nvSpPr>
          <p:cNvPr id="4" name="Slide Number Placeholder 3"/>
          <p:cNvSpPr>
            <a:spLocks noGrp="1"/>
          </p:cNvSpPr>
          <p:nvPr>
            <p:ph type="sldNum" sz="quarter" idx="5"/>
          </p:nvPr>
        </p:nvSpPr>
        <p:spPr/>
        <p:txBody>
          <a:bodyPr/>
          <a:lstStyle/>
          <a:p>
            <a:fld id="{3D10302F-4F1A-4943-8927-CFA4CB4C0695}" type="slidenum">
              <a:t>3</a:t>
            </a:fld>
            <a:endParaRPr lang="en-US"/>
          </a:p>
        </p:txBody>
      </p:sp>
    </p:spTree>
    <p:extLst>
      <p:ext uri="{BB962C8B-B14F-4D97-AF65-F5344CB8AC3E}">
        <p14:creationId xmlns:p14="http://schemas.microsoft.com/office/powerpoint/2010/main" val="2354173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Objectives and Goals of the Capstone Project</a:t>
            </a:r>
          </a:p>
        </p:txBody>
      </p:sp>
      <p:sp>
        <p:nvSpPr>
          <p:cNvPr id="4" name="Slide Number Placeholder 3"/>
          <p:cNvSpPr>
            <a:spLocks noGrp="1"/>
          </p:cNvSpPr>
          <p:nvPr>
            <p:ph type="sldNum" sz="quarter" idx="5"/>
          </p:nvPr>
        </p:nvSpPr>
        <p:spPr/>
        <p:txBody>
          <a:bodyPr/>
          <a:lstStyle/>
          <a:p>
            <a:fld id="{3D10302F-4F1A-4943-8927-CFA4CB4C0695}" type="slidenum">
              <a:t>4</a:t>
            </a:fld>
            <a:endParaRPr lang="en-US"/>
          </a:p>
        </p:txBody>
      </p:sp>
    </p:spTree>
    <p:extLst>
      <p:ext uri="{BB962C8B-B14F-4D97-AF65-F5344CB8AC3E}">
        <p14:creationId xmlns:p14="http://schemas.microsoft.com/office/powerpoint/2010/main" val="325323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objective of this capstone project is to develop a structured understanding of cyber warfare and critically examine its economic implications at both national and global levels. Students aim to analyse how cyber attacks affect financial institutions, businesses, government infrastructure, and digital users, leading to financial losses, operational disruption, and reduced confidence in digital economies. A key goal is to apply the design thinking methodology to identify economic problems arising from cyber warfare by empathising with stakeholders, defining core issues, ideating solutions, and validating feasible outcomes. The project further seeks to encourage innovative thinking by guiding students to design practical policy recommendations, economic strategies, or technology‑enabled solutions that can mitigate cyber warfare risks. Another important goal is skill development, including analytical reasoning, research competency, data interpretation, teamwork, and professional communication. Through real‑world case studies, students learn to connect theoretical concepts with practical economic consequences. The project also promotes interdisciplinary learning by integrating economics, cybersecurity, data analytics, and policy studies. Ultimately, the project aims to prepare students to understand cyber warfare as an economic challenge requiring proactive planning, informed policymaking, and resilient digital infrastructure, rather than merely a technical or defensive problem.</a:t>
            </a:r>
          </a:p>
        </p:txBody>
      </p:sp>
      <p:sp>
        <p:nvSpPr>
          <p:cNvPr id="4" name="Slide Number Placeholder 3"/>
          <p:cNvSpPr>
            <a:spLocks noGrp="1"/>
          </p:cNvSpPr>
          <p:nvPr>
            <p:ph type="sldNum" sz="quarter" idx="5"/>
          </p:nvPr>
        </p:nvSpPr>
        <p:spPr/>
        <p:txBody>
          <a:bodyPr/>
          <a:lstStyle/>
          <a:p>
            <a:fld id="{3D10302F-4F1A-4943-8927-CFA4CB4C0695}" type="slidenum">
              <a:t>5</a:t>
            </a:fld>
            <a:endParaRPr lang="en-US"/>
          </a:p>
        </p:txBody>
      </p:sp>
    </p:spTree>
    <p:extLst>
      <p:ext uri="{BB962C8B-B14F-4D97-AF65-F5344CB8AC3E}">
        <p14:creationId xmlns:p14="http://schemas.microsoft.com/office/powerpoint/2010/main" val="2806946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4DA11-F2CE-D0F8-FF48-D2C1826D2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3DE63-AB40-2284-4E6E-958EAA9DA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2AD9B-E180-A33E-2420-BEB888B2EE28}"/>
              </a:ext>
            </a:extLst>
          </p:cNvPr>
          <p:cNvSpPr>
            <a:spLocks noGrp="1"/>
          </p:cNvSpPr>
          <p:nvPr>
            <p:ph type="body" idx="1"/>
          </p:nvPr>
        </p:nvSpPr>
        <p:spPr/>
        <p:txBody>
          <a:bodyPr/>
          <a:lstStyle/>
          <a:p>
            <a:r>
              <a:rPr lang="en-US"/>
              <a:t>
The primary objective of this capstone project is to develop a structured understanding of cyber warfare and critically examine its economic implications at both national and global levels. Students aim to analyse how cyber attacks affect financial institutions, businesses, government infrastructure, and digital users, leading to financial losses, operational disruption, and reduced confidence in digital economies. A key goal is to apply the design thinking methodology to identify economic problems arising from cyber warfare by empathising with stakeholders, defining core issues, ideating solutions, and validating feasible outcomes. The project further seeks to encourage innovative thinking by guiding students to design practical policy recommendations, economic strategies, or technology‑enabled solutions that can mitigate cyber warfare risks. Another important goal is skill development, including analytical reasoning, research competency, data interpretation, teamwork, and professional communication. Through real‑world case studies, students learn to connect theoretical concepts with practical economic consequences. The project also promotes interdisciplinary learning by integrating economics, cybersecurity, data analytics, and policy studies. Ultimately, the project aims to prepare students to understand cyber warfare as an economic challenge requiring proactive planning, informed policymaking, and resilient digital infrastructure, rather than merely a technical or defensive problem.</a:t>
            </a:r>
          </a:p>
        </p:txBody>
      </p:sp>
      <p:sp>
        <p:nvSpPr>
          <p:cNvPr id="4" name="Slide Number Placeholder 3">
            <a:extLst>
              <a:ext uri="{FF2B5EF4-FFF2-40B4-BE49-F238E27FC236}">
                <a16:creationId xmlns:a16="http://schemas.microsoft.com/office/drawing/2014/main" id="{54939FA2-1A99-B931-2248-E675A19EEA9B}"/>
              </a:ext>
            </a:extLst>
          </p:cNvPr>
          <p:cNvSpPr>
            <a:spLocks noGrp="1"/>
          </p:cNvSpPr>
          <p:nvPr>
            <p:ph type="sldNum" sz="quarter" idx="5"/>
          </p:nvPr>
        </p:nvSpPr>
        <p:spPr/>
        <p:txBody>
          <a:bodyPr/>
          <a:lstStyle/>
          <a:p>
            <a:fld id="{3D10302F-4F1A-4943-8927-CFA4CB4C0695}" type="slidenum">
              <a:t>6</a:t>
            </a:fld>
            <a:endParaRPr lang="en-US"/>
          </a:p>
        </p:txBody>
      </p:sp>
    </p:spTree>
    <p:extLst>
      <p:ext uri="{BB962C8B-B14F-4D97-AF65-F5344CB8AC3E}">
        <p14:creationId xmlns:p14="http://schemas.microsoft.com/office/powerpoint/2010/main" val="2158800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CFB2D-106E-6D0B-C876-A8B000695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546C3-3F07-F424-89AD-79C403141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9E8683-CFA1-A034-CE46-0580F1B1B00B}"/>
              </a:ext>
            </a:extLst>
          </p:cNvPr>
          <p:cNvSpPr>
            <a:spLocks noGrp="1"/>
          </p:cNvSpPr>
          <p:nvPr>
            <p:ph type="body" idx="1"/>
          </p:nvPr>
        </p:nvSpPr>
        <p:spPr/>
        <p:txBody>
          <a:bodyPr/>
          <a:lstStyle/>
          <a:p>
            <a:r>
              <a:rPr lang="en-US"/>
              <a:t>
The primary objective of this capstone project is to develop a structured understanding of cyber warfare and critically examine its economic implications at both national and global levels. Students aim to analyse how cyber attacks affect financial institutions, businesses, government infrastructure, and digital users, leading to financial losses, operational disruption, and reduced confidence in digital economies. A key goal is to apply the design thinking methodology to identify economic problems arising from cyber warfare by empathising with stakeholders, defining core issues, ideating solutions, and validating feasible outcomes. The project further seeks to encourage innovative thinking by guiding students to design practical policy recommendations, economic strategies, or technology‑enabled solutions that can mitigate cyber warfare risks. Another important goal is skill development, including analytical reasoning, research competency, data interpretation, teamwork, and professional communication. Through real‑world case studies, students learn to connect theoretical concepts with practical economic consequences. The project also promotes interdisciplinary learning by integrating economics, cybersecurity, data analytics, and policy studies. Ultimately, the project aims to prepare students to understand cyber warfare as an economic challenge requiring proactive planning, informed policymaking, and resilient digital infrastructure, rather than merely a technical or defensive problem.</a:t>
            </a:r>
          </a:p>
        </p:txBody>
      </p:sp>
      <p:sp>
        <p:nvSpPr>
          <p:cNvPr id="4" name="Slide Number Placeholder 3">
            <a:extLst>
              <a:ext uri="{FF2B5EF4-FFF2-40B4-BE49-F238E27FC236}">
                <a16:creationId xmlns:a16="http://schemas.microsoft.com/office/drawing/2014/main" id="{FF4F8C5F-4B0C-9677-ACCD-19F554A9C6B5}"/>
              </a:ext>
            </a:extLst>
          </p:cNvPr>
          <p:cNvSpPr>
            <a:spLocks noGrp="1"/>
          </p:cNvSpPr>
          <p:nvPr>
            <p:ph type="sldNum" sz="quarter" idx="5"/>
          </p:nvPr>
        </p:nvSpPr>
        <p:spPr/>
        <p:txBody>
          <a:bodyPr/>
          <a:lstStyle/>
          <a:p>
            <a:fld id="{3D10302F-4F1A-4943-8927-CFA4CB4C0695}" type="slidenum">
              <a:t>7</a:t>
            </a:fld>
            <a:endParaRPr lang="en-US"/>
          </a:p>
        </p:txBody>
      </p:sp>
    </p:spTree>
    <p:extLst>
      <p:ext uri="{BB962C8B-B14F-4D97-AF65-F5344CB8AC3E}">
        <p14:creationId xmlns:p14="http://schemas.microsoft.com/office/powerpoint/2010/main" val="1033526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783E6-D98F-B46A-A68E-581C60A98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50C49-7816-92BF-3721-2686D1CEFA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94876-3E67-97AE-3021-47CFC534841B}"/>
              </a:ext>
            </a:extLst>
          </p:cNvPr>
          <p:cNvSpPr>
            <a:spLocks noGrp="1"/>
          </p:cNvSpPr>
          <p:nvPr>
            <p:ph type="body" idx="1"/>
          </p:nvPr>
        </p:nvSpPr>
        <p:spPr/>
        <p:txBody>
          <a:bodyPr/>
          <a:lstStyle/>
          <a:p>
            <a:r>
              <a:rPr lang="en-US" dirty="0"/>
              <a:t>
The primary objective of this capstone project is to develop a structured understanding of cyber warfare and critically examine its economic implications at both national and global levels. Students aim to </a:t>
            </a:r>
            <a:r>
              <a:rPr lang="en-US" dirty="0" err="1"/>
              <a:t>analyse</a:t>
            </a:r>
            <a:r>
              <a:rPr lang="en-US" dirty="0"/>
              <a:t> how cyber attacks affect financial institutions, businesses, government infrastructure, and digital users, leading to financial losses, operational disruption, and reduced confidence in digital economies. A key goal is to apply the design thinking methodology to identify economic problems arising from cyber warfare by </a:t>
            </a:r>
            <a:r>
              <a:rPr lang="en-US" dirty="0" err="1"/>
              <a:t>empathising</a:t>
            </a:r>
            <a:r>
              <a:rPr lang="en-US" dirty="0"/>
              <a:t> with stakeholders, defining core issues, ideating solutions, and validating feasible outcomes. The project further seeks to encourage innovative thinking by guiding students to design practical policy recommendations, economic strategies, or technology‑enabled solutions that can mitigate cyber warfare risks. Another important goal is skill development, including analytical reasoning, research competency, data interpretation, teamwork, and professional communication. Through real‑world case studies, students learn to connect theoretical concepts with practical economic consequences. The project also promotes interdisciplinary learning by integrating economics, cybersecurity, data analytics, and policy studies. Ultimately, the project aims to prepare students to understand cyber warfare as an economic challenge requiring proactive planning, informed policymaking, and resilient digital infrastructure, rather than merely a technical or defensive problem.</a:t>
            </a:r>
          </a:p>
        </p:txBody>
      </p:sp>
      <p:sp>
        <p:nvSpPr>
          <p:cNvPr id="4" name="Slide Number Placeholder 3">
            <a:extLst>
              <a:ext uri="{FF2B5EF4-FFF2-40B4-BE49-F238E27FC236}">
                <a16:creationId xmlns:a16="http://schemas.microsoft.com/office/drawing/2014/main" id="{B6EFA60A-18F5-FEC8-FD42-AC6D48F90021}"/>
              </a:ext>
            </a:extLst>
          </p:cNvPr>
          <p:cNvSpPr>
            <a:spLocks noGrp="1"/>
          </p:cNvSpPr>
          <p:nvPr>
            <p:ph type="sldNum" sz="quarter" idx="5"/>
          </p:nvPr>
        </p:nvSpPr>
        <p:spPr/>
        <p:txBody>
          <a:bodyPr/>
          <a:lstStyle/>
          <a:p>
            <a:fld id="{3D10302F-4F1A-4943-8927-CFA4CB4C0695}" type="slidenum">
              <a:t>8</a:t>
            </a:fld>
            <a:endParaRPr lang="en-US"/>
          </a:p>
        </p:txBody>
      </p:sp>
    </p:spTree>
    <p:extLst>
      <p:ext uri="{BB962C8B-B14F-4D97-AF65-F5344CB8AC3E}">
        <p14:creationId xmlns:p14="http://schemas.microsoft.com/office/powerpoint/2010/main" val="2223179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CAB4-1F5B-1C97-2F13-5EF59B10B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565F8-2534-134E-B7F6-A2828EEAC1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9A9CB9-2972-6AB9-76E3-363B3EA82DB4}"/>
              </a:ext>
            </a:extLst>
          </p:cNvPr>
          <p:cNvSpPr>
            <a:spLocks noGrp="1"/>
          </p:cNvSpPr>
          <p:nvPr>
            <p:ph type="body" idx="1"/>
          </p:nvPr>
        </p:nvSpPr>
        <p:spPr/>
        <p:txBody>
          <a:bodyPr/>
          <a:lstStyle/>
          <a:p>
            <a:r>
              <a:rPr lang="en-US" dirty="0"/>
              <a:t>
The primary objective of this capstone project is to develop a structured understanding of cyber warfare and critically examine its economic implications at both national and global levels. Students aim to </a:t>
            </a:r>
            <a:r>
              <a:rPr lang="en-US" dirty="0" err="1"/>
              <a:t>analyse</a:t>
            </a:r>
            <a:r>
              <a:rPr lang="en-US" dirty="0"/>
              <a:t> how cyber attacks affect financial institutions, businesses, government infrastructure, and digital users, leading to financial losses, operational disruption, and reduced confidence in digital economies. A key goal is to apply the design thinking methodology to identify economic problems arising from cyber warfare by </a:t>
            </a:r>
            <a:r>
              <a:rPr lang="en-US" dirty="0" err="1"/>
              <a:t>empathising</a:t>
            </a:r>
            <a:r>
              <a:rPr lang="en-US" dirty="0"/>
              <a:t> with stakeholders, defining core issues, ideating solutions, and validating feasible outcomes. The project further seeks to encourage innovative thinking by guiding students to design practical policy recommendations, economic strategies, or technology‑enabled solutions that can mitigate cyber warfare risks. Another important goal is skill development, including analytical reasoning, research competency, data interpretation, teamwork, and professional communication. Through real‑world case studies, students learn to connect theoretical concepts with practical economic consequences. The project also promotes interdisciplinary learning by integrating economics, cybersecurity, data analytics, and policy studies. Ultimately, the project aims to prepare students to understand cyber warfare as an economic challenge requiring proactive planning, informed policymaking, and resilient digital infrastructure, rather than merely a technical or defensive problem.</a:t>
            </a:r>
          </a:p>
        </p:txBody>
      </p:sp>
      <p:sp>
        <p:nvSpPr>
          <p:cNvPr id="4" name="Slide Number Placeholder 3">
            <a:extLst>
              <a:ext uri="{FF2B5EF4-FFF2-40B4-BE49-F238E27FC236}">
                <a16:creationId xmlns:a16="http://schemas.microsoft.com/office/drawing/2014/main" id="{85791526-E6AE-B3A9-6AE8-31DFAF42CED7}"/>
              </a:ext>
            </a:extLst>
          </p:cNvPr>
          <p:cNvSpPr>
            <a:spLocks noGrp="1"/>
          </p:cNvSpPr>
          <p:nvPr>
            <p:ph type="sldNum" sz="quarter" idx="5"/>
          </p:nvPr>
        </p:nvSpPr>
        <p:spPr/>
        <p:txBody>
          <a:bodyPr/>
          <a:lstStyle/>
          <a:p>
            <a:fld id="{3D10302F-4F1A-4943-8927-CFA4CB4C0695}" type="slidenum">
              <a:t>9</a:t>
            </a:fld>
            <a:endParaRPr lang="en-US"/>
          </a:p>
        </p:txBody>
      </p:sp>
    </p:spTree>
    <p:extLst>
      <p:ext uri="{BB962C8B-B14F-4D97-AF65-F5344CB8AC3E}">
        <p14:creationId xmlns:p14="http://schemas.microsoft.com/office/powerpoint/2010/main" val="1296243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Phase I – Scope: Case Study Exploration and Idea Posting</a:t>
            </a:r>
          </a:p>
        </p:txBody>
      </p:sp>
      <p:sp>
        <p:nvSpPr>
          <p:cNvPr id="4" name="Slide Number Placeholder 3"/>
          <p:cNvSpPr>
            <a:spLocks noGrp="1"/>
          </p:cNvSpPr>
          <p:nvPr>
            <p:ph type="sldNum" sz="quarter" idx="5"/>
          </p:nvPr>
        </p:nvSpPr>
        <p:spPr/>
        <p:txBody>
          <a:bodyPr/>
          <a:lstStyle/>
          <a:p>
            <a:fld id="{3D10302F-4F1A-4943-8927-CFA4CB4C0695}" type="slidenum">
              <a:t>10</a:t>
            </a:fld>
            <a:endParaRPr lang="en-US"/>
          </a:p>
        </p:txBody>
      </p:sp>
    </p:spTree>
    <p:extLst>
      <p:ext uri="{BB962C8B-B14F-4D97-AF65-F5344CB8AC3E}">
        <p14:creationId xmlns:p14="http://schemas.microsoft.com/office/powerpoint/2010/main" val="108693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p:cNvSpPr>
            <a:spLocks noGrp="1"/>
          </p:cNvSpPr>
          <p:nvPr>
            <p:ph type="sldNum" sz="quarter" idx="5"/>
          </p:nvPr>
        </p:nvSpPr>
        <p:spPr/>
        <p:txBody>
          <a:bodyPr/>
          <a:lstStyle/>
          <a:p>
            <a:fld id="{3D10302F-4F1A-4943-8927-CFA4CB4C0695}" type="slidenum">
              <a:t>11</a:t>
            </a:fld>
            <a:endParaRPr lang="en-US"/>
          </a:p>
        </p:txBody>
      </p:sp>
    </p:spTree>
    <p:extLst>
      <p:ext uri="{BB962C8B-B14F-4D97-AF65-F5344CB8AC3E}">
        <p14:creationId xmlns:p14="http://schemas.microsoft.com/office/powerpoint/2010/main" val="455979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8444-FEF5-0BF5-4252-C2FD1A092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BE3A6-FD9C-2559-6657-BCE27C5FA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B8937-1454-98BE-4A7B-72BD259B1B22}"/>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7CCA76D8-C3DE-180B-2EF4-8E265F1A07BB}"/>
              </a:ext>
            </a:extLst>
          </p:cNvPr>
          <p:cNvSpPr>
            <a:spLocks noGrp="1"/>
          </p:cNvSpPr>
          <p:nvPr>
            <p:ph type="sldNum" sz="quarter" idx="5"/>
          </p:nvPr>
        </p:nvSpPr>
        <p:spPr/>
        <p:txBody>
          <a:bodyPr/>
          <a:lstStyle/>
          <a:p>
            <a:fld id="{3D10302F-4F1A-4943-8927-CFA4CB4C0695}" type="slidenum">
              <a:t>12</a:t>
            </a:fld>
            <a:endParaRPr lang="en-US"/>
          </a:p>
        </p:txBody>
      </p:sp>
    </p:spTree>
    <p:extLst>
      <p:ext uri="{BB962C8B-B14F-4D97-AF65-F5344CB8AC3E}">
        <p14:creationId xmlns:p14="http://schemas.microsoft.com/office/powerpoint/2010/main" val="2036598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92F48-DB96-B4F7-57FC-D258D2BE1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49238-3E2C-9B6D-9BDD-F9BCB1D8C4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6AD28-4A83-F112-0BD2-EFF9385224EE}"/>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13A8D31E-E10E-944E-BAAA-42B74BBA3264}"/>
              </a:ext>
            </a:extLst>
          </p:cNvPr>
          <p:cNvSpPr>
            <a:spLocks noGrp="1"/>
          </p:cNvSpPr>
          <p:nvPr>
            <p:ph type="sldNum" sz="quarter" idx="5"/>
          </p:nvPr>
        </p:nvSpPr>
        <p:spPr/>
        <p:txBody>
          <a:bodyPr/>
          <a:lstStyle/>
          <a:p>
            <a:fld id="{3D10302F-4F1A-4943-8927-CFA4CB4C0695}" type="slidenum">
              <a:t>13</a:t>
            </a:fld>
            <a:endParaRPr lang="en-US"/>
          </a:p>
        </p:txBody>
      </p:sp>
    </p:spTree>
    <p:extLst>
      <p:ext uri="{BB962C8B-B14F-4D97-AF65-F5344CB8AC3E}">
        <p14:creationId xmlns:p14="http://schemas.microsoft.com/office/powerpoint/2010/main" val="968483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B7F2F-2820-B46B-5C4F-62735CFA0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2764F-56C1-DFA0-3C02-9E2234C17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FD996-7E37-957B-6B91-137F7AB6B802}"/>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A83572B2-3836-38CC-5026-FC05F6B0CB46}"/>
              </a:ext>
            </a:extLst>
          </p:cNvPr>
          <p:cNvSpPr>
            <a:spLocks noGrp="1"/>
          </p:cNvSpPr>
          <p:nvPr>
            <p:ph type="sldNum" sz="quarter" idx="5"/>
          </p:nvPr>
        </p:nvSpPr>
        <p:spPr/>
        <p:txBody>
          <a:bodyPr/>
          <a:lstStyle/>
          <a:p>
            <a:fld id="{3D10302F-4F1A-4943-8927-CFA4CB4C0695}" type="slidenum">
              <a:t>14</a:t>
            </a:fld>
            <a:endParaRPr lang="en-US"/>
          </a:p>
        </p:txBody>
      </p:sp>
    </p:spTree>
    <p:extLst>
      <p:ext uri="{BB962C8B-B14F-4D97-AF65-F5344CB8AC3E}">
        <p14:creationId xmlns:p14="http://schemas.microsoft.com/office/powerpoint/2010/main" val="32479461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A71B-0A33-45A8-56FC-7A0EC79A6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292D2A-5E92-692B-5CB3-54ED41865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CA384-9E13-B72B-4580-C4B88C67B733}"/>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AE7EEFB5-4ED2-E0F6-30C9-52C3AB68910D}"/>
              </a:ext>
            </a:extLst>
          </p:cNvPr>
          <p:cNvSpPr>
            <a:spLocks noGrp="1"/>
          </p:cNvSpPr>
          <p:nvPr>
            <p:ph type="sldNum" sz="quarter" idx="5"/>
          </p:nvPr>
        </p:nvSpPr>
        <p:spPr/>
        <p:txBody>
          <a:bodyPr/>
          <a:lstStyle/>
          <a:p>
            <a:fld id="{3D10302F-4F1A-4943-8927-CFA4CB4C0695}" type="slidenum">
              <a:t>15</a:t>
            </a:fld>
            <a:endParaRPr lang="en-US"/>
          </a:p>
        </p:txBody>
      </p:sp>
    </p:spTree>
    <p:extLst>
      <p:ext uri="{BB962C8B-B14F-4D97-AF65-F5344CB8AC3E}">
        <p14:creationId xmlns:p14="http://schemas.microsoft.com/office/powerpoint/2010/main" val="844609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BFF9F-2F11-8FD4-6755-10BEB10FC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6F839-B57F-624B-4C17-95BA7FCA2A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238E1-B235-7593-B129-6C2116A5B3E8}"/>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FB837272-EB97-8972-5A1D-D5B9194F1E35}"/>
              </a:ext>
            </a:extLst>
          </p:cNvPr>
          <p:cNvSpPr>
            <a:spLocks noGrp="1"/>
          </p:cNvSpPr>
          <p:nvPr>
            <p:ph type="sldNum" sz="quarter" idx="5"/>
          </p:nvPr>
        </p:nvSpPr>
        <p:spPr/>
        <p:txBody>
          <a:bodyPr/>
          <a:lstStyle/>
          <a:p>
            <a:fld id="{3D10302F-4F1A-4943-8927-CFA4CB4C0695}" type="slidenum">
              <a:t>16</a:t>
            </a:fld>
            <a:endParaRPr lang="en-US"/>
          </a:p>
        </p:txBody>
      </p:sp>
    </p:spTree>
    <p:extLst>
      <p:ext uri="{BB962C8B-B14F-4D97-AF65-F5344CB8AC3E}">
        <p14:creationId xmlns:p14="http://schemas.microsoft.com/office/powerpoint/2010/main" val="3721913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DCC25-9939-8C83-85B8-AC9826B2F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18AA9-D339-22BA-C2B1-5AC10DF251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B4E900-B77C-BE50-E159-001EA7AA23DC}"/>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4978FAFD-832B-2B02-2122-52174D24D309}"/>
              </a:ext>
            </a:extLst>
          </p:cNvPr>
          <p:cNvSpPr>
            <a:spLocks noGrp="1"/>
          </p:cNvSpPr>
          <p:nvPr>
            <p:ph type="sldNum" sz="quarter" idx="5"/>
          </p:nvPr>
        </p:nvSpPr>
        <p:spPr/>
        <p:txBody>
          <a:bodyPr/>
          <a:lstStyle/>
          <a:p>
            <a:fld id="{3D10302F-4F1A-4943-8927-CFA4CB4C0695}" type="slidenum">
              <a:t>17</a:t>
            </a:fld>
            <a:endParaRPr lang="en-US"/>
          </a:p>
        </p:txBody>
      </p:sp>
    </p:spTree>
    <p:extLst>
      <p:ext uri="{BB962C8B-B14F-4D97-AF65-F5344CB8AC3E}">
        <p14:creationId xmlns:p14="http://schemas.microsoft.com/office/powerpoint/2010/main" val="1844884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56787-A7D3-BE15-D553-8CF843370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E5042-07CF-FE43-9F80-8B43E2154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AFE19D-F453-8455-A5DC-49B8899B39F3}"/>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D9CF9C7D-AF5B-F8D2-E380-A02116ACC284}"/>
              </a:ext>
            </a:extLst>
          </p:cNvPr>
          <p:cNvSpPr>
            <a:spLocks noGrp="1"/>
          </p:cNvSpPr>
          <p:nvPr>
            <p:ph type="sldNum" sz="quarter" idx="5"/>
          </p:nvPr>
        </p:nvSpPr>
        <p:spPr/>
        <p:txBody>
          <a:bodyPr/>
          <a:lstStyle/>
          <a:p>
            <a:fld id="{3D10302F-4F1A-4943-8927-CFA4CB4C0695}" type="slidenum">
              <a:t>18</a:t>
            </a:fld>
            <a:endParaRPr lang="en-US"/>
          </a:p>
        </p:txBody>
      </p:sp>
    </p:spTree>
    <p:extLst>
      <p:ext uri="{BB962C8B-B14F-4D97-AF65-F5344CB8AC3E}">
        <p14:creationId xmlns:p14="http://schemas.microsoft.com/office/powerpoint/2010/main" val="707757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E813C-FB6F-F9DE-BD4C-23826A73A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81911-EB4A-9716-0266-A1B6933DD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BCE83-01FD-0E9D-206B-FE277A13BAC8}"/>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347E8988-6373-0CEE-EBD2-4CD7F0C21A8B}"/>
              </a:ext>
            </a:extLst>
          </p:cNvPr>
          <p:cNvSpPr>
            <a:spLocks noGrp="1"/>
          </p:cNvSpPr>
          <p:nvPr>
            <p:ph type="sldNum" sz="quarter" idx="5"/>
          </p:nvPr>
        </p:nvSpPr>
        <p:spPr/>
        <p:txBody>
          <a:bodyPr/>
          <a:lstStyle/>
          <a:p>
            <a:fld id="{3D10302F-4F1A-4943-8927-CFA4CB4C0695}" type="slidenum">
              <a:t>19</a:t>
            </a:fld>
            <a:endParaRPr lang="en-US"/>
          </a:p>
        </p:txBody>
      </p:sp>
    </p:spTree>
    <p:extLst>
      <p:ext uri="{BB962C8B-B14F-4D97-AF65-F5344CB8AC3E}">
        <p14:creationId xmlns:p14="http://schemas.microsoft.com/office/powerpoint/2010/main" val="3393555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D985B-5071-223F-F73F-AC34AB33A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31D7C-CB74-0430-D0B2-21F272F8A1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DCFD68-551C-201C-2E22-96568112119B}"/>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E6169FE7-EDD7-C0F5-27E1-CA7E550BFAB2}"/>
              </a:ext>
            </a:extLst>
          </p:cNvPr>
          <p:cNvSpPr>
            <a:spLocks noGrp="1"/>
          </p:cNvSpPr>
          <p:nvPr>
            <p:ph type="sldNum" sz="quarter" idx="5"/>
          </p:nvPr>
        </p:nvSpPr>
        <p:spPr/>
        <p:txBody>
          <a:bodyPr/>
          <a:lstStyle/>
          <a:p>
            <a:fld id="{3D10302F-4F1A-4943-8927-CFA4CB4C0695}" type="slidenum">
              <a:t>20</a:t>
            </a:fld>
            <a:endParaRPr lang="en-US"/>
          </a:p>
        </p:txBody>
      </p:sp>
    </p:spTree>
    <p:extLst>
      <p:ext uri="{BB962C8B-B14F-4D97-AF65-F5344CB8AC3E}">
        <p14:creationId xmlns:p14="http://schemas.microsoft.com/office/powerpoint/2010/main" val="929926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A2636-0044-42BA-1E2D-7D84320AD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7AE9A-1D59-2E3E-8217-64834BAD8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892AC-8409-3F42-B030-8A701DE150AC}"/>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975F7A05-9B6B-D0D8-8464-FCCD2F05046E}"/>
              </a:ext>
            </a:extLst>
          </p:cNvPr>
          <p:cNvSpPr>
            <a:spLocks noGrp="1"/>
          </p:cNvSpPr>
          <p:nvPr>
            <p:ph type="sldNum" sz="quarter" idx="5"/>
          </p:nvPr>
        </p:nvSpPr>
        <p:spPr/>
        <p:txBody>
          <a:bodyPr/>
          <a:lstStyle/>
          <a:p>
            <a:fld id="{3D10302F-4F1A-4943-8927-CFA4CB4C0695}" type="slidenum">
              <a:t>21</a:t>
            </a:fld>
            <a:endParaRPr lang="en-US"/>
          </a:p>
        </p:txBody>
      </p:sp>
    </p:spTree>
    <p:extLst>
      <p:ext uri="{BB962C8B-B14F-4D97-AF65-F5344CB8AC3E}">
        <p14:creationId xmlns:p14="http://schemas.microsoft.com/office/powerpoint/2010/main" val="3690345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74F33-5118-577C-5C6E-DA763702C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4B44B8-AF2F-F887-C81F-559BBF86B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1E1DE-2FB8-1D0B-A9A7-F356626DD017}"/>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6BB0DE9C-C437-5D9A-0BEE-9C703E86F645}"/>
              </a:ext>
            </a:extLst>
          </p:cNvPr>
          <p:cNvSpPr>
            <a:spLocks noGrp="1"/>
          </p:cNvSpPr>
          <p:nvPr>
            <p:ph type="sldNum" sz="quarter" idx="5"/>
          </p:nvPr>
        </p:nvSpPr>
        <p:spPr/>
        <p:txBody>
          <a:bodyPr/>
          <a:lstStyle/>
          <a:p>
            <a:fld id="{3D10302F-4F1A-4943-8927-CFA4CB4C0695}" type="slidenum">
              <a:t>22</a:t>
            </a:fld>
            <a:endParaRPr lang="en-US"/>
          </a:p>
        </p:txBody>
      </p:sp>
    </p:spTree>
    <p:extLst>
      <p:ext uri="{BB962C8B-B14F-4D97-AF65-F5344CB8AC3E}">
        <p14:creationId xmlns:p14="http://schemas.microsoft.com/office/powerpoint/2010/main" val="41355862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1A611-050F-1704-A744-1A117E354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4AAB0-B787-2305-5C7A-93FCC8C78B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3CAB8-6AF2-39B0-69ED-2D9F3402DF29}"/>
              </a:ext>
            </a:extLst>
          </p:cNvPr>
          <p:cNvSpPr>
            <a:spLocks noGrp="1"/>
          </p:cNvSpPr>
          <p:nvPr>
            <p:ph type="body" idx="1"/>
          </p:nvPr>
        </p:nvSpPr>
        <p:spPr/>
        <p:txBody>
          <a:bodyPr/>
          <a:lstStyle/>
          <a:p>
            <a:r>
              <a:rPr lang="en-US"/>
              <a:t>
The Scope phase establishes the foundational understanding of cyber warfare and its economic impact through structured exploration and idea generation. In Stage I, Case Study Exploration, students analyse real cyber warfare incidents affecting banking systems, digital payments, stock exchanges, and government infrastructure. These case studies help identify tangible economic consequences such as direct financial losses, disruption of trade, increased cybersecurity expenditure, and long‑term erosion of investor confidence. Tools such as Google Scholar and credible cybersecurity reports support evidence‑based analysis. Stage II, Idea Posting through mind mapping, enables students to visually organise causes, affected sectors, and economic risks associated with cyber warfare. By mapping relationships between cyber threats and economic outcomes, students move from isolated observations to a systems‑level understanding of the problem. This phase ensures that the economic problem is clearly articulated and grounded in real‑world evidence, forming a strong basis for subsequent empathy and problem‑definition stages. The Scope phase is critical in preventing superficial analysis and ensures that all later solutions are anchored in clearly identified economic realities.</a:t>
            </a:r>
          </a:p>
        </p:txBody>
      </p:sp>
      <p:sp>
        <p:nvSpPr>
          <p:cNvPr id="4" name="Slide Number Placeholder 3">
            <a:extLst>
              <a:ext uri="{FF2B5EF4-FFF2-40B4-BE49-F238E27FC236}">
                <a16:creationId xmlns:a16="http://schemas.microsoft.com/office/drawing/2014/main" id="{F4932430-ACB2-CA17-1BFC-B6DDCB74849F}"/>
              </a:ext>
            </a:extLst>
          </p:cNvPr>
          <p:cNvSpPr>
            <a:spLocks noGrp="1"/>
          </p:cNvSpPr>
          <p:nvPr>
            <p:ph type="sldNum" sz="quarter" idx="5"/>
          </p:nvPr>
        </p:nvSpPr>
        <p:spPr/>
        <p:txBody>
          <a:bodyPr/>
          <a:lstStyle/>
          <a:p>
            <a:fld id="{3D10302F-4F1A-4943-8927-CFA4CB4C0695}" type="slidenum">
              <a:t>23</a:t>
            </a:fld>
            <a:endParaRPr lang="en-US"/>
          </a:p>
        </p:txBody>
      </p:sp>
    </p:spTree>
    <p:extLst>
      <p:ext uri="{BB962C8B-B14F-4D97-AF65-F5344CB8AC3E}">
        <p14:creationId xmlns:p14="http://schemas.microsoft.com/office/powerpoint/2010/main" val="3941037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77EA5D59-5512-467D-834D-D04827A6AF83}" type="datetime1">
              <a:rPr lang="en-US" smtClean="0"/>
              <a:pPr/>
              <a:t>3/10/2026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4716961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B42362D5-E350-46C5-8BB1-F9E806A91933}" type="datetime1">
              <a:rPr lang="en-US" smtClean="0"/>
              <a:t>3/10/2026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3893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12319369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BFE899EF-3666-4EAB-A626-E7AA02E66CC1}" type="datetime1">
              <a:rPr lang="en-US" smtClean="0"/>
              <a:pPr/>
              <a:t>3/10/2026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6592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1F92EF8E-B9EB-49F8-83E1-F362FA442011}" type="datetime1">
              <a:rPr lang="en-US" smtClean="0"/>
              <a:pPr/>
              <a:t>3/10/2026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0619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BC9EEDB3-BC19-4021-830F-B822E1DE9789}" type="datetime1">
              <a:rPr lang="en-US" smtClean="0"/>
              <a:pPr/>
              <a:t>3/10/2026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36135037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014DD65C-314F-4399-90A8-B6DFCAF21BE4}" type="datetime1">
              <a:rPr lang="en-US" smtClean="0"/>
              <a:t>3/10/2026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439022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D07A3B59-4DAC-4AFE-874D-3A86EC3801A0}" type="datetime1">
              <a:rPr lang="en-US" smtClean="0"/>
              <a:pPr/>
              <a:t>3/10/2026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11096891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3/10/2026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3829405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76FC08D9-20DE-421C-BE4E-310427BB699B}" type="datetime1">
              <a:rPr lang="en-US" smtClean="0"/>
              <a:pPr/>
              <a:t>3/10/2026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862101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t">
            <a:noAutofit/>
          </a:bodyPr>
          <a:lstStyle>
            <a:lvl1pPr>
              <a:defRPr sz="9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4F1AC263-88EE-42CC-B640-B12BA856CF71}" type="datetime1">
              <a:rPr lang="en-US" smtClean="0"/>
              <a:t>3/10/2026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837638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68A32F6A-E7E2-4607-B207-B787B539B854}" type="datetime1">
              <a:rPr lang="en-US" smtClean="0"/>
              <a:t>3/10/2026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72651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467FC12-63BB-4A63-9424-BFBF8E1D71D9}" type="datetime1">
              <a:rPr lang="en-US" smtClean="0"/>
              <a:t>3/10/2026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799769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3/10/2026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420058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3/10/2026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2088009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A892AD61-D199-4B74-B80B-2001400510FA}" type="datetime1">
              <a:rPr lang="en-US" smtClean="0"/>
              <a:t>3/10/2026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757079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D00D9374-B0AF-43C5-90A8-C409C7D54B55}" type="datetime1">
              <a:rPr lang="en-US" smtClean="0"/>
              <a:t>3/10/2026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597231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9CBB6888-43ED-4D3A-B8DA-89EF29644561}" type="datetime1">
              <a:rPr lang="en-US" smtClean="0"/>
              <a:pPr/>
              <a:t>3/10/2026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760686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27C7479B-2077-4468-85E0-F9294B46DEAE}" type="datetime1">
              <a:rPr lang="en-US" smtClean="0"/>
              <a:t>3/10/2026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8765673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28E9021D-675F-4984-8FE0-04DA4F4E22F1}" type="datetime1">
              <a:rPr lang="en-US" smtClean="0"/>
              <a:t>3/10/2026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68074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3/10/2026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9190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74049900-C118-46F7-B9EF-5F7C1F0005B2}" type="datetime1">
              <a:rPr lang="en-US" smtClean="0"/>
              <a:t>3/10/2026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785854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4049900-C118-46F7-B9EF-5F7C1F0005B2}" type="datetime1">
              <a:rPr lang="en-US" smtClean="0"/>
              <a:t>3/10/2026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39292218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0B4A3A31-ACEE-4A00-9ED7-D579651BDB0B}" type="datetime1">
              <a:rPr lang="en-US" smtClean="0"/>
              <a:t>3/10/2026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36596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0B4A3A31-ACEE-4A00-9ED7-D579651BDB0B}" type="datetime1">
              <a:rPr lang="en-US" smtClean="0"/>
              <a:t>3/10/2026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3914770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FAD7B7F7-7F90-4F0B-A996-5443656EFF4A}" type="datetime1">
              <a:rPr lang="en-US" smtClean="0"/>
              <a:t>3/10/2026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6708624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FAD7B7F7-7F90-4F0B-A996-5443656EFF4A}" type="datetime1">
              <a:rPr lang="en-US" smtClean="0"/>
              <a:t>3/10/2026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30162839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2086C921-50A5-4289-8B96-30101E64A548}" type="datetime1">
              <a:rPr lang="en-US" smtClean="0"/>
              <a:t>3/10/2026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545413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1B948B66-4D7B-4FF2-9F42-B85226272225}" type="datetime1">
              <a:rPr lang="en-US" smtClean="0"/>
              <a:t>3/10/2026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273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6D1D18D0-7308-42C5-B784-8892F327ABD3}" type="datetime1">
              <a:rPr lang="en-US" smtClean="0"/>
              <a:t>3/10/2026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580813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3/10/2026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05867923"/>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6C46EC71-0129-40A3-85CE-244216EACC39}" type="datetime1">
              <a:rPr lang="en-US" smtClean="0"/>
              <a:t>3/10/2026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98806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3/10/2026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2226659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3/10/2026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17239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7B708C30-1428-4C16-AD49-DE42CFEA37BF}" type="datetime1">
              <a:rPr lang="en-US" smtClean="0"/>
              <a:t>3/10/2026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199043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DCE8854E-90F8-4761-A9B8-18B1C5A3D25C}" type="datetime1">
              <a:rPr lang="en-US" smtClean="0"/>
              <a:pPr/>
              <a:t>3/10/2026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59077920"/>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53DF09C0-6535-4055-81CC-988E059C8EEC}" type="datetime1">
              <a:rPr lang="en-US" smtClean="0"/>
              <a:t>3/10/2026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88569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B85187EE-7BBC-405E-B3F5-9C3E88970356}" type="datetime1">
              <a:rPr lang="en-US" smtClean="0"/>
              <a:t>3/10/2026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335896552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967A35BA-41D5-4E87-94C2-E365E2A3656B}" type="datetime1">
              <a:rPr lang="en-US" smtClean="0"/>
              <a:t>3/10/2026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5238941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DA4345C7-9F39-4767-92C9-EBF29396D0A9}" type="datetime1">
              <a:rPr lang="en-US" smtClean="0"/>
              <a:t>3/10/2026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0422507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4A6891D2-C712-4357-A4F9-7362E459A272}" type="datetime1">
              <a:rPr lang="en-US" smtClean="0"/>
              <a:pPr/>
              <a:t>3/10/2026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3282176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34566FD-24FB-4338-A35C-D9AE347B4F66}" type="datetime1">
              <a:rPr lang="en-US" smtClean="0"/>
              <a:pPr/>
              <a:t>3/10/2026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3544536471"/>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02BF1DD-1BF4-406D-9906-B4846BCC8D55}" type="datetime1">
              <a:rPr lang="en-US" smtClean="0"/>
              <a:pPr/>
              <a:t>3/10/2026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715149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CD0A52C9-A7D6-4EB8-8F3D-1519181DDC1D}" type="datetime1">
              <a:rPr lang="en-US" smtClean="0"/>
              <a:t>3/10/2026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92975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E9CE581-A048-42A8-B14C-488A3338D2F0}" type="datetime1">
              <a:rPr lang="en-US" smtClean="0"/>
              <a:t>3/10/2026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561337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F37B15FB-E45F-4977-9C40-BB6531CE6EA6}" type="datetime1">
              <a:rPr lang="en-US" smtClean="0"/>
              <a:t>3/10/2026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619316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18922BC5-E711-4A36-A80E-0A418F83672D}" type="datetime1">
              <a:rPr lang="en-US" smtClean="0"/>
              <a:t>3/10/2026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8923658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81D94988-488B-40CC-9623-27A54F95F7B4}" type="datetime1">
              <a:rPr lang="en-US" smtClean="0"/>
              <a:t>3/10/2026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3173769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FA3C7011-18F0-49E4-85C9-3E22BE44E3EB}" type="datetime1">
              <a:rPr lang="en-US" smtClean="0"/>
              <a:t>3/10/2026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580945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B1E6060-C53E-4F28-8D83-0C4FB26C4A3F}" type="datetime1">
              <a:rPr lang="en-US" smtClean="0"/>
              <a:t>3/10/2026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64881079"/>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D3D1E3E-5DD4-4BAD-A138-1254BF94C224}" type="datetime1">
              <a:rPr lang="en-US" smtClean="0"/>
              <a:t>3/10/2026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510278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7DF4F7BB-A1DF-4BD2-8D5B-CA9EB40127CE}" type="datetime1">
              <a:rPr lang="en-US" smtClean="0"/>
              <a:pPr/>
              <a:t>3/10/2026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56463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47.xml"/><Relationship Id="rId4" Type="http://schemas.openxmlformats.org/officeDocument/2006/relationships/hyperlink" Target="https://www.researchgate.net/publication/396931154_Sino_US_cyber_warfare_and_its_impact_on_Ukraine_war"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7.xml"/><Relationship Id="rId4" Type="http://schemas.openxmlformats.org/officeDocument/2006/relationships/hyperlink" Target="https://chatgpt.com/s/m_69afadd6d90c8191a4cdf2aa0b954828"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47.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47.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4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4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47.xml"/><Relationship Id="rId4" Type="http://schemas.openxmlformats.org/officeDocument/2006/relationships/slide" Target="slide21.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47.xml"/><Relationship Id="rId4" Type="http://schemas.openxmlformats.org/officeDocument/2006/relationships/slide" Target="slide20.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3.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76D1-C6A0-7797-BB70-A01472A4B896}"/>
              </a:ext>
            </a:extLst>
          </p:cNvPr>
          <p:cNvSpPr>
            <a:spLocks noGrp="1"/>
          </p:cNvSpPr>
          <p:nvPr>
            <p:ph type="ctrTitle"/>
          </p:nvPr>
        </p:nvSpPr>
        <p:spPr>
          <a:xfrm>
            <a:off x="614172" y="4486122"/>
            <a:ext cx="11577828" cy="1352245"/>
          </a:xfrm>
        </p:spPr>
        <p:txBody>
          <a:bodyPr anchor="b">
            <a:normAutofit fontScale="90000"/>
          </a:bodyPr>
          <a:lstStyle/>
          <a:p>
            <a:r>
              <a:rPr lang="en-US" sz="3900" dirty="0">
                <a:latin typeface="Cambria" panose="02040503050406030204" pitchFamily="18" charset="0"/>
                <a:ea typeface="Cambria" panose="02040503050406030204" pitchFamily="18" charset="0"/>
              </a:rPr>
              <a:t>Capstone Project: </a:t>
            </a:r>
            <a:br>
              <a:rPr lang="en-US" sz="3900" dirty="0">
                <a:latin typeface="Cambria" panose="02040503050406030204" pitchFamily="18" charset="0"/>
                <a:ea typeface="Cambria" panose="02040503050406030204" pitchFamily="18" charset="0"/>
              </a:rPr>
            </a:br>
            <a:r>
              <a:rPr lang="en-US" sz="5300" b="1" dirty="0">
                <a:latin typeface="Cambria" panose="02040503050406030204" pitchFamily="18" charset="0"/>
                <a:ea typeface="Cambria" panose="02040503050406030204" pitchFamily="18" charset="0"/>
              </a:rPr>
              <a:t>Economic Impact of Cyber Warfare</a:t>
            </a:r>
          </a:p>
        </p:txBody>
      </p:sp>
      <p:sp>
        <p:nvSpPr>
          <p:cNvPr id="3" name="Subtitle 2">
            <a:extLst>
              <a:ext uri="{FF2B5EF4-FFF2-40B4-BE49-F238E27FC236}">
                <a16:creationId xmlns:a16="http://schemas.microsoft.com/office/drawing/2014/main" id="{F6DC1FF0-F33B-BB97-EC56-7F2183341611}"/>
              </a:ext>
            </a:extLst>
          </p:cNvPr>
          <p:cNvSpPr>
            <a:spLocks noGrp="1"/>
          </p:cNvSpPr>
          <p:nvPr>
            <p:ph type="subTitle" idx="1"/>
          </p:nvPr>
        </p:nvSpPr>
        <p:spPr>
          <a:xfrm>
            <a:off x="614172" y="5943600"/>
            <a:ext cx="10963657" cy="609600"/>
          </a:xfrm>
        </p:spPr>
        <p:txBody>
          <a:bodyPr anchor="t">
            <a:normAutofit/>
          </a:bodyPr>
          <a:lstStyle/>
          <a:p>
            <a:r>
              <a:rPr lang="en-US" dirty="0">
                <a:latin typeface="Cambria" panose="02040503050406030204" pitchFamily="18" charset="0"/>
                <a:ea typeface="Cambria" panose="02040503050406030204" pitchFamily="18" charset="0"/>
              </a:rPr>
              <a:t>Project-based learning model using design thinking</a:t>
            </a:r>
          </a:p>
        </p:txBody>
      </p:sp>
      <p:pic>
        <p:nvPicPr>
          <p:cNvPr id="4" name="Picture 3" descr="Internet Cyber Security digital concept">
            <a:extLst>
              <a:ext uri="{FF2B5EF4-FFF2-40B4-BE49-F238E27FC236}">
                <a16:creationId xmlns:a16="http://schemas.microsoft.com/office/drawing/2014/main" id="{0CA25AB0-0514-4001-BB80-387D739031EA}"/>
              </a:ext>
            </a:extLst>
          </p:cNvPr>
          <p:cNvPicPr>
            <a:picLocks noChangeAspect="1"/>
          </p:cNvPicPr>
          <p:nvPr/>
        </p:nvPicPr>
        <p:blipFill>
          <a:blip r:embed="rId3"/>
          <a:srcRect t="16515" b="23485"/>
          <a:stretch>
            <a:fillRect/>
          </a:stretch>
        </p:blipFill>
        <p:spPr>
          <a:xfrm>
            <a:off x="20" y="10"/>
            <a:ext cx="12191980" cy="4114790"/>
          </a:xfrm>
          <a:prstGeom prst="rect">
            <a:avLst/>
          </a:prstGeom>
        </p:spPr>
      </p:pic>
    </p:spTree>
    <p:extLst>
      <p:ext uri="{BB962C8B-B14F-4D97-AF65-F5344CB8AC3E}">
        <p14:creationId xmlns:p14="http://schemas.microsoft.com/office/powerpoint/2010/main" val="2052046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7DC94-61FF-57EA-B119-6DB756737B05}"/>
              </a:ext>
            </a:extLst>
          </p:cNvPr>
          <p:cNvSpPr>
            <a:spLocks noGrp="1"/>
          </p:cNvSpPr>
          <p:nvPr>
            <p:ph type="ctrTitle"/>
          </p:nvPr>
        </p:nvSpPr>
        <p:spPr>
          <a:xfrm>
            <a:off x="609600" y="990600"/>
            <a:ext cx="10586720" cy="5029200"/>
          </a:xfrm>
        </p:spPr>
        <p:txBody>
          <a:bodyPr anchor="b">
            <a:normAutofit/>
          </a:bodyPr>
          <a:lstStyle/>
          <a:p>
            <a:pPr algn="ctr"/>
            <a:r>
              <a:rPr lang="en-US" sz="8000" dirty="0">
                <a:latin typeface="Cambria" panose="02040503050406030204" pitchFamily="18" charset="0"/>
                <a:ea typeface="Cambria" panose="02040503050406030204" pitchFamily="18" charset="0"/>
              </a:rPr>
              <a:t>Project Context and </a:t>
            </a:r>
            <a:br>
              <a:rPr lang="en-US" sz="8000" dirty="0">
                <a:latin typeface="Cambria" panose="02040503050406030204" pitchFamily="18" charset="0"/>
                <a:ea typeface="Cambria" panose="02040503050406030204" pitchFamily="18" charset="0"/>
              </a:rPr>
            </a:br>
            <a:r>
              <a:rPr lang="en-US" sz="8000" dirty="0">
                <a:latin typeface="Cambria" panose="02040503050406030204" pitchFamily="18" charset="0"/>
                <a:ea typeface="Cambria" panose="02040503050406030204" pitchFamily="18" charset="0"/>
              </a:rPr>
              <a:t>Problem Statement</a:t>
            </a:r>
          </a:p>
        </p:txBody>
      </p:sp>
    </p:spTree>
    <p:extLst>
      <p:ext uri="{BB962C8B-B14F-4D97-AF65-F5344CB8AC3E}">
        <p14:creationId xmlns:p14="http://schemas.microsoft.com/office/powerpoint/2010/main" val="7563367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251D-2F04-0F3B-3C8A-26DE2DF46BD5}"/>
              </a:ext>
            </a:extLst>
          </p:cNvPr>
          <p:cNvSpPr>
            <a:spLocks noGrp="1"/>
          </p:cNvSpPr>
          <p:nvPr>
            <p:ph type="title"/>
          </p:nvPr>
        </p:nvSpPr>
        <p:spPr>
          <a:xfrm>
            <a:off x="609599" y="685800"/>
            <a:ext cx="4564763" cy="1426798"/>
          </a:xfrm>
        </p:spPr>
        <p:txBody>
          <a:bodyPr anchor="b">
            <a:normAutofit/>
          </a:bodyPr>
          <a:lstStyle/>
          <a:p>
            <a:r>
              <a:rPr lang="en-US" sz="2600" dirty="0">
                <a:latin typeface="Cambria" panose="02040503050406030204" pitchFamily="18" charset="0"/>
                <a:ea typeface="Cambria" panose="02040503050406030204" pitchFamily="18" charset="0"/>
              </a:rPr>
              <a:t>Problem Statement and Economic Relevance of Cyber Warfare</a:t>
            </a:r>
          </a:p>
        </p:txBody>
      </p:sp>
      <p:pic>
        <p:nvPicPr>
          <p:cNvPr id="5" name="Content Placeholder 4" descr="A digitally rendered city with numbers">
            <a:extLst>
              <a:ext uri="{FF2B5EF4-FFF2-40B4-BE49-F238E27FC236}">
                <a16:creationId xmlns:a16="http://schemas.microsoft.com/office/drawing/2014/main" id="{0BE097EF-F483-4090-B541-BFD1A0E8A26F}"/>
              </a:ext>
            </a:extLst>
          </p:cNvPr>
          <p:cNvPicPr>
            <a:picLocks noGrp="1" noChangeAspect="1"/>
          </p:cNvPicPr>
          <p:nvPr>
            <p:ph type="pic" sz="quarter" idx="15"/>
          </p:nvPr>
        </p:nvPicPr>
        <p:blipFill>
          <a:blip r:embed="rId3"/>
          <a:srcRect l="5756" r="28031"/>
          <a:stretch>
            <a:fillRect/>
          </a:stretch>
        </p:blipFill>
        <p:spPr>
          <a:xfrm>
            <a:off x="609599" y="2514600"/>
            <a:ext cx="4564763" cy="3636598"/>
          </a:xfrm>
        </p:spPr>
      </p:pic>
      <p:sp>
        <p:nvSpPr>
          <p:cNvPr id="4" name="Content Placeholder 3">
            <a:extLst>
              <a:ext uri="{FF2B5EF4-FFF2-40B4-BE49-F238E27FC236}">
                <a16:creationId xmlns:a16="http://schemas.microsoft.com/office/drawing/2014/main" id="{AE8EF951-A969-B070-AA14-A89B8B16BDC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03520" y="685800"/>
            <a:ext cx="6746240" cy="5836920"/>
          </a:xfrm>
        </p:spPr>
        <p:txBody>
          <a:bodyPr>
            <a:noAutofit/>
          </a:bodyPr>
          <a:lstStyle/>
          <a:p>
            <a:pPr marL="342900" lvl="0" indent="-342900" algn="just">
              <a:buFont typeface="Arial" panose="020B0604020202020204" pitchFamily="34" charset="0"/>
              <a:buChar char="•"/>
            </a:pPr>
            <a:r>
              <a:rPr lang="en-US" sz="2000" dirty="0">
                <a:latin typeface="Cambria" panose="02040503050406030204" pitchFamily="18" charset="0"/>
                <a:ea typeface="Cambria" panose="02040503050406030204" pitchFamily="18" charset="0"/>
              </a:rPr>
              <a:t>With the rapid digitalization of economies, financial systems, businesses, and government services increasingly depend on digital infrastructure. </a:t>
            </a:r>
          </a:p>
          <a:p>
            <a:pPr marL="342900" lvl="0" indent="-342900" algn="just">
              <a:buFont typeface="Arial" panose="020B0604020202020204" pitchFamily="34" charset="0"/>
              <a:buChar char="•"/>
            </a:pPr>
            <a:r>
              <a:rPr lang="en-US" sz="2000" dirty="0">
                <a:latin typeface="Cambria" panose="02040503050406030204" pitchFamily="18" charset="0"/>
                <a:ea typeface="Cambria" panose="02040503050406030204" pitchFamily="18" charset="0"/>
              </a:rPr>
              <a:t>While digital technologies improve efficiency and connectivity, they also </a:t>
            </a:r>
            <a:r>
              <a:rPr lang="en-US" sz="2000" b="1" dirty="0">
                <a:latin typeface="Cambria" panose="02040503050406030204" pitchFamily="18" charset="0"/>
                <a:ea typeface="Cambria" panose="02040503050406030204" pitchFamily="18" charset="0"/>
              </a:rPr>
              <a:t>expose economies to cyber threats and cyber warfare</a:t>
            </a:r>
            <a:r>
              <a:rPr lang="en-US" sz="2000" dirty="0">
                <a:latin typeface="Cambria" panose="02040503050406030204" pitchFamily="18" charset="0"/>
                <a:ea typeface="Cambria" panose="02040503050406030204" pitchFamily="18" charset="0"/>
              </a:rPr>
              <a:t>. </a:t>
            </a:r>
          </a:p>
          <a:p>
            <a:pPr marL="342900" lvl="0" indent="-342900"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Cyber attacks </a:t>
            </a:r>
            <a:r>
              <a:rPr lang="en-US" sz="2000" dirty="0">
                <a:latin typeface="Cambria" panose="02040503050406030204" pitchFamily="18" charset="0"/>
                <a:ea typeface="Cambria" panose="02040503050406030204" pitchFamily="18" charset="0"/>
              </a:rPr>
              <a:t>on banking systems, digital payments, critical infrastructure, and data networks can cause significant financial losses, disrupt economic activities, and weaken investor confidence.</a:t>
            </a:r>
          </a:p>
          <a:p>
            <a:pPr marL="342900" lvl="0" indent="-342900" algn="just">
              <a:buFont typeface="Arial" panose="020B0604020202020204" pitchFamily="34" charset="0"/>
              <a:buChar char="•"/>
            </a:pPr>
            <a:r>
              <a:rPr lang="en-US" sz="2000" dirty="0">
                <a:latin typeface="Cambria" panose="02040503050406030204" pitchFamily="18" charset="0"/>
                <a:ea typeface="Cambria" panose="02040503050406030204" pitchFamily="18" charset="0"/>
              </a:rPr>
              <a:t>Therefore, it is important to </a:t>
            </a:r>
            <a:r>
              <a:rPr lang="en-US" sz="2000" dirty="0" err="1">
                <a:latin typeface="Cambria" panose="02040503050406030204" pitchFamily="18" charset="0"/>
                <a:ea typeface="Cambria" panose="02040503050406030204" pitchFamily="18" charset="0"/>
              </a:rPr>
              <a:t>analyse</a:t>
            </a:r>
            <a:r>
              <a:rPr lang="en-US" sz="2000" dirty="0">
                <a:latin typeface="Cambria" panose="02040503050406030204" pitchFamily="18" charset="0"/>
                <a:ea typeface="Cambria" panose="02040503050406030204" pitchFamily="18" charset="0"/>
              </a:rPr>
              <a:t> the economic impact of cyber warfare and explore innovative strategies to reduce its risks. </a:t>
            </a:r>
          </a:p>
          <a:p>
            <a:pPr marL="342900" lvl="0" indent="-342900" algn="just">
              <a:buFont typeface="Arial" panose="020B0604020202020204" pitchFamily="34" charset="0"/>
              <a:buChar char="•"/>
            </a:pPr>
            <a:r>
              <a:rPr lang="en-US" sz="2000" dirty="0">
                <a:latin typeface="Cambria" panose="02040503050406030204" pitchFamily="18" charset="0"/>
                <a:ea typeface="Cambria" panose="02040503050406030204" pitchFamily="18" charset="0"/>
              </a:rPr>
              <a:t>This project </a:t>
            </a:r>
            <a:r>
              <a:rPr lang="en-US" sz="2000" b="1" dirty="0">
                <a:latin typeface="Cambria" panose="02040503050406030204" pitchFamily="18" charset="0"/>
                <a:ea typeface="Cambria" panose="02040503050406030204" pitchFamily="18" charset="0"/>
              </a:rPr>
              <a:t>aims to apply the Design Thinking approach </a:t>
            </a:r>
            <a:r>
              <a:rPr lang="en-US" sz="2000" dirty="0">
                <a:latin typeface="Cambria" panose="02040503050406030204" pitchFamily="18" charset="0"/>
                <a:ea typeface="Cambria" panose="02040503050406030204" pitchFamily="18" charset="0"/>
              </a:rPr>
              <a:t>to understand stakeholders affected by cyber warfare, identify key economic problems, and develop feasible economic and policy solutions to strengthen cybersecurity and economic resilience.</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782731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75AC-5F14-FCED-7812-4594A8A04138}"/>
              </a:ext>
            </a:extLst>
          </p:cNvPr>
          <p:cNvSpPr>
            <a:spLocks noGrp="1"/>
          </p:cNvSpPr>
          <p:nvPr>
            <p:ph type="ctrTitle"/>
          </p:nvPr>
        </p:nvSpPr>
        <p:spPr>
          <a:xfrm>
            <a:off x="609600" y="990600"/>
            <a:ext cx="10058400" cy="5029200"/>
          </a:xfrm>
        </p:spPr>
        <p:txBody>
          <a:bodyPr anchor="b">
            <a:normAutofit/>
          </a:bodyPr>
          <a:lstStyle/>
          <a:p>
            <a:r>
              <a:rPr lang="en-US" sz="6000" dirty="0">
                <a:latin typeface="Cambria" panose="02040503050406030204" pitchFamily="18" charset="0"/>
                <a:ea typeface="Cambria" panose="02040503050406030204" pitchFamily="18" charset="0"/>
              </a:rPr>
              <a:t>Objectives, </a:t>
            </a:r>
            <a:br>
              <a:rPr lang="en-US" sz="6000" dirty="0">
                <a:latin typeface="Cambria" panose="02040503050406030204" pitchFamily="18" charset="0"/>
                <a:ea typeface="Cambria" panose="02040503050406030204" pitchFamily="18" charset="0"/>
              </a:rPr>
            </a:br>
            <a:r>
              <a:rPr lang="en-US" sz="6000" dirty="0">
                <a:latin typeface="Cambria" panose="02040503050406030204" pitchFamily="18" charset="0"/>
                <a:ea typeface="Cambria" panose="02040503050406030204" pitchFamily="18" charset="0"/>
              </a:rPr>
              <a:t>Goals,  </a:t>
            </a:r>
            <a:br>
              <a:rPr lang="en-US" sz="6000" dirty="0">
                <a:latin typeface="Cambria" panose="02040503050406030204" pitchFamily="18" charset="0"/>
                <a:ea typeface="Cambria" panose="02040503050406030204" pitchFamily="18" charset="0"/>
              </a:rPr>
            </a:br>
            <a:r>
              <a:rPr lang="en-US" sz="6000" dirty="0">
                <a:latin typeface="Cambria" panose="02040503050406030204" pitchFamily="18" charset="0"/>
                <a:ea typeface="Cambria" panose="02040503050406030204" pitchFamily="18" charset="0"/>
              </a:rPr>
              <a:t>Project Planning,</a:t>
            </a:r>
            <a:br>
              <a:rPr lang="en-US" sz="6000" dirty="0">
                <a:latin typeface="Cambria" panose="02040503050406030204" pitchFamily="18" charset="0"/>
                <a:ea typeface="Cambria" panose="02040503050406030204" pitchFamily="18" charset="0"/>
              </a:rPr>
            </a:br>
            <a:r>
              <a:rPr lang="en-US" sz="6000" dirty="0">
                <a:latin typeface="Cambria" panose="02040503050406030204" pitchFamily="18" charset="0"/>
                <a:ea typeface="Cambria" panose="02040503050406030204" pitchFamily="18" charset="0"/>
              </a:rPr>
              <a:t>Requirements, </a:t>
            </a:r>
            <a:br>
              <a:rPr lang="en-US" sz="6000" dirty="0">
                <a:latin typeface="Cambria" panose="02040503050406030204" pitchFamily="18" charset="0"/>
                <a:ea typeface="Cambria" panose="02040503050406030204" pitchFamily="18" charset="0"/>
              </a:rPr>
            </a:br>
            <a:r>
              <a:rPr lang="en-US" sz="6000" dirty="0">
                <a:latin typeface="Cambria" panose="02040503050406030204" pitchFamily="18" charset="0"/>
                <a:ea typeface="Cambria" panose="02040503050406030204" pitchFamily="18" charset="0"/>
              </a:rPr>
              <a:t>Solution.</a:t>
            </a:r>
            <a:br>
              <a:rPr lang="en-US" sz="6000" dirty="0">
                <a:latin typeface="Cambria" panose="02040503050406030204" pitchFamily="18" charset="0"/>
                <a:ea typeface="Cambria" panose="02040503050406030204" pitchFamily="18" charset="0"/>
              </a:rPr>
            </a:br>
            <a:endParaRPr lang="en-US" sz="6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835045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E834F-6877-547C-978C-1DF8B64575C5}"/>
              </a:ext>
            </a:extLst>
          </p:cNvPr>
          <p:cNvSpPr>
            <a:spLocks noGrp="1"/>
          </p:cNvSpPr>
          <p:nvPr>
            <p:ph type="title"/>
          </p:nvPr>
        </p:nvSpPr>
        <p:spPr>
          <a:xfrm>
            <a:off x="609599" y="685800"/>
            <a:ext cx="4564763" cy="1426798"/>
          </a:xfrm>
        </p:spPr>
        <p:txBody>
          <a:bodyPr anchor="b">
            <a:normAutofit/>
          </a:bodyPr>
          <a:lstStyle/>
          <a:p>
            <a:pPr algn="ctr"/>
            <a:r>
              <a:rPr lang="en-US" sz="3400" dirty="0">
                <a:latin typeface="Cambria" panose="02040503050406030204" pitchFamily="18" charset="0"/>
                <a:ea typeface="Cambria" panose="02040503050406030204" pitchFamily="18" charset="0"/>
              </a:rPr>
              <a:t>Objectives of the Project</a:t>
            </a:r>
          </a:p>
        </p:txBody>
      </p:sp>
      <p:pic>
        <p:nvPicPr>
          <p:cNvPr id="5" name="Content Placeholder 4" descr="technology and innovation concept">
            <a:extLst>
              <a:ext uri="{FF2B5EF4-FFF2-40B4-BE49-F238E27FC236}">
                <a16:creationId xmlns:a16="http://schemas.microsoft.com/office/drawing/2014/main" id="{E2448BF5-4BDE-43C2-AA42-6814FEC99866}"/>
              </a:ext>
            </a:extLst>
          </p:cNvPr>
          <p:cNvPicPr>
            <a:picLocks noGrp="1" noChangeAspect="1"/>
          </p:cNvPicPr>
          <p:nvPr>
            <p:ph type="pic" sz="quarter" idx="15"/>
          </p:nvPr>
        </p:nvPicPr>
        <p:blipFill>
          <a:blip r:embed="rId3"/>
          <a:srcRect l="16480" r="11657" b="-2"/>
          <a:stretch>
            <a:fillRect/>
          </a:stretch>
        </p:blipFill>
        <p:spPr>
          <a:xfrm>
            <a:off x="609599" y="2514600"/>
            <a:ext cx="4564763" cy="3636598"/>
          </a:xfrm>
        </p:spPr>
      </p:pic>
      <p:sp>
        <p:nvSpPr>
          <p:cNvPr id="4" name="Content Placeholder 3">
            <a:extLst>
              <a:ext uri="{FF2B5EF4-FFF2-40B4-BE49-F238E27FC236}">
                <a16:creationId xmlns:a16="http://schemas.microsoft.com/office/drawing/2014/main" id="{729D721D-A970-57DA-9E62-221B8CE861E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Autofit/>
          </a:bodyPr>
          <a:lstStyle/>
          <a:p>
            <a:pPr marL="457200" lvl="0" indent="-457200" algn="just">
              <a:buFont typeface="+mj-lt"/>
              <a:buAutoNum type="arabicPeriod"/>
            </a:pPr>
            <a:r>
              <a:rPr lang="en-IN" sz="2400" b="1" dirty="0">
                <a:latin typeface="Cambria" panose="02040503050406030204" pitchFamily="18" charset="0"/>
                <a:ea typeface="Cambria" panose="02040503050406030204" pitchFamily="18" charset="0"/>
              </a:rPr>
              <a:t>To understand the concept of cyber warfare and its economic implications.</a:t>
            </a:r>
          </a:p>
          <a:p>
            <a:pPr marL="457200" lvl="0" indent="-457200" algn="just">
              <a:buFont typeface="+mj-lt"/>
              <a:buAutoNum type="arabicPeriod"/>
            </a:pPr>
            <a:r>
              <a:rPr lang="en-IN" sz="2400" b="1" dirty="0">
                <a:latin typeface="Cambria" panose="02040503050406030204" pitchFamily="18" charset="0"/>
                <a:ea typeface="Cambria" panose="02040503050406030204" pitchFamily="18" charset="0"/>
              </a:rPr>
              <a:t>To analyse the impact of cyber warfare on national and global economies.</a:t>
            </a:r>
          </a:p>
          <a:p>
            <a:pPr marL="457200" lvl="0" indent="-457200" algn="just">
              <a:buFont typeface="+mj-lt"/>
              <a:buAutoNum type="arabicPeriod"/>
            </a:pPr>
            <a:r>
              <a:rPr lang="en-IN" sz="2400" b="1" dirty="0">
                <a:latin typeface="Cambria" panose="02040503050406030204" pitchFamily="18" charset="0"/>
                <a:ea typeface="Cambria" panose="02040503050406030204" pitchFamily="18" charset="0"/>
              </a:rPr>
              <a:t>To apply the Design Thinking approach to identify economic problems caused by cyber warfare.</a:t>
            </a:r>
          </a:p>
          <a:p>
            <a:pPr marL="457200" lvl="0" indent="-457200" algn="just">
              <a:buFont typeface="+mj-lt"/>
              <a:buAutoNum type="arabicPeriod"/>
            </a:pPr>
            <a:r>
              <a:rPr lang="en-IN" sz="2400" b="1" dirty="0">
                <a:latin typeface="Cambria" panose="02040503050406030204" pitchFamily="18" charset="0"/>
                <a:ea typeface="Cambria" panose="02040503050406030204" pitchFamily="18" charset="0"/>
              </a:rPr>
              <a:t>To design innovative policy or economic solutions to reduce cyber warfare risks.</a:t>
            </a:r>
          </a:p>
        </p:txBody>
      </p:sp>
    </p:spTree>
    <p:extLst>
      <p:ext uri="{BB962C8B-B14F-4D97-AF65-F5344CB8AC3E}">
        <p14:creationId xmlns:p14="http://schemas.microsoft.com/office/powerpoint/2010/main" val="1210238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715E9-8144-770C-8E62-1F060CEE5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8ADEB-903F-841C-8B4D-6E56B50C5671}"/>
              </a:ext>
            </a:extLst>
          </p:cNvPr>
          <p:cNvSpPr>
            <a:spLocks noGrp="1"/>
          </p:cNvSpPr>
          <p:nvPr>
            <p:ph type="title"/>
          </p:nvPr>
        </p:nvSpPr>
        <p:spPr>
          <a:xfrm>
            <a:off x="609599" y="685800"/>
            <a:ext cx="10556241" cy="685800"/>
          </a:xfrm>
        </p:spPr>
        <p:txBody>
          <a:bodyPr anchor="b">
            <a:normAutofit/>
          </a:bodyPr>
          <a:lstStyle/>
          <a:p>
            <a:pPr algn="ctr"/>
            <a:r>
              <a:rPr lang="en-US" sz="3400" dirty="0">
                <a:latin typeface="Cambria" panose="02040503050406030204" pitchFamily="18" charset="0"/>
                <a:ea typeface="Cambria" panose="02040503050406030204" pitchFamily="18" charset="0"/>
              </a:rPr>
              <a:t>Goals of the Project</a:t>
            </a:r>
          </a:p>
        </p:txBody>
      </p:sp>
      <p:sp>
        <p:nvSpPr>
          <p:cNvPr id="4" name="Content Placeholder 3">
            <a:extLst>
              <a:ext uri="{FF2B5EF4-FFF2-40B4-BE49-F238E27FC236}">
                <a16:creationId xmlns:a16="http://schemas.microsoft.com/office/drawing/2014/main" id="{5CECE2B6-FDAE-3594-D2EC-05CFAEB711B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45440" y="1899920"/>
            <a:ext cx="11236961" cy="4779598"/>
          </a:xfrm>
        </p:spPr>
        <p:txBody>
          <a:bodyPr>
            <a:noAutofit/>
          </a:bodyPr>
          <a:lstStyle/>
          <a:p>
            <a:pPr marL="342900" lvl="0" indent="-342900" algn="just">
              <a:spcBef>
                <a:spcPts val="0"/>
              </a:spcBef>
              <a:buFont typeface="+mj-lt"/>
              <a:buAutoNum type="arabicPeriod"/>
            </a:pPr>
            <a:r>
              <a:rPr lang="en-IN" sz="2000" b="1" dirty="0">
                <a:latin typeface="Cambria" panose="02040503050406030204" pitchFamily="18" charset="0"/>
                <a:ea typeface="Cambria" panose="02040503050406030204" pitchFamily="18" charset="0"/>
              </a:rPr>
              <a:t>Conceptual Understanding of Cyber Warfare: </a:t>
            </a:r>
            <a:r>
              <a:rPr lang="en-IN" sz="2000" dirty="0">
                <a:latin typeface="Cambria" panose="02040503050406030204" pitchFamily="18" charset="0"/>
                <a:ea typeface="Cambria" panose="02040503050406030204" pitchFamily="18" charset="0"/>
              </a:rPr>
              <a:t>To develop a clear understanding among students about the nature of cyber warfare and how cyber attacks influence economic systems, financial institutions, businesses, and national security.</a:t>
            </a:r>
          </a:p>
          <a:p>
            <a:pPr marL="342900" lvl="0" indent="-342900" algn="just">
              <a:spcBef>
                <a:spcPts val="0"/>
              </a:spcBef>
              <a:buFont typeface="+mj-lt"/>
              <a:buAutoNum type="arabicPeriod"/>
            </a:pPr>
            <a:r>
              <a:rPr lang="en-IN" sz="2000" b="1" dirty="0">
                <a:latin typeface="Cambria" panose="02040503050406030204" pitchFamily="18" charset="0"/>
                <a:ea typeface="Cambria" panose="02040503050406030204" pitchFamily="18" charset="0"/>
              </a:rPr>
              <a:t>Comprehensive Analysis of Economic Consequences: </a:t>
            </a:r>
            <a:r>
              <a:rPr lang="en-IN" sz="2000" dirty="0">
                <a:latin typeface="Cambria" panose="02040503050406030204" pitchFamily="18" charset="0"/>
                <a:ea typeface="Cambria" panose="02040503050406030204" pitchFamily="18" charset="0"/>
              </a:rPr>
              <a:t>To enable students to examine and evaluate the economic impact of cyber warfare at both national and global levels, including financial losses, disruption of digital infrastructure, trade disturbances, and reduced investor confidence.</a:t>
            </a:r>
          </a:p>
          <a:p>
            <a:pPr marL="342900" lvl="0" indent="-342900" algn="just">
              <a:spcBef>
                <a:spcPts val="0"/>
              </a:spcBef>
              <a:buFont typeface="+mj-lt"/>
              <a:buAutoNum type="arabicPeriod"/>
            </a:pPr>
            <a:r>
              <a:rPr lang="en-IN" sz="2000" b="1" dirty="0">
                <a:latin typeface="Cambria" panose="02040503050406030204" pitchFamily="18" charset="0"/>
                <a:ea typeface="Cambria" panose="02040503050406030204" pitchFamily="18" charset="0"/>
              </a:rPr>
              <a:t>Application of Design Thinking for Problem Identification: </a:t>
            </a:r>
            <a:r>
              <a:rPr lang="en-IN" sz="2000" dirty="0">
                <a:latin typeface="Cambria" panose="02040503050406030204" pitchFamily="18" charset="0"/>
                <a:ea typeface="Cambria" panose="02040503050406030204" pitchFamily="18" charset="0"/>
              </a:rPr>
              <a:t>To encourage students to apply the Design Thinking framework to identify key economic challenges arising from cyber warfare by understanding stakeholders, defining problems, and generating innovative ideas.</a:t>
            </a:r>
          </a:p>
          <a:p>
            <a:pPr marL="342900" lvl="0" indent="-342900" algn="just">
              <a:spcBef>
                <a:spcPts val="0"/>
              </a:spcBef>
              <a:buFont typeface="+mj-lt"/>
              <a:buAutoNum type="arabicPeriod"/>
            </a:pPr>
            <a:r>
              <a:rPr lang="en-IN" sz="2000" b="1" dirty="0">
                <a:latin typeface="Cambria" panose="02040503050406030204" pitchFamily="18" charset="0"/>
                <a:ea typeface="Cambria" panose="02040503050406030204" pitchFamily="18" charset="0"/>
              </a:rPr>
              <a:t>Development of Practical and Innovative Solutions: </a:t>
            </a:r>
            <a:r>
              <a:rPr lang="en-IN" sz="2000" dirty="0">
                <a:latin typeface="Cambria" panose="02040503050406030204" pitchFamily="18" charset="0"/>
                <a:ea typeface="Cambria" panose="02040503050406030204" pitchFamily="18" charset="0"/>
              </a:rPr>
              <a:t>To guide students in designing feasible policy recommendations, economic strategies, or technological solutions that can help reduce the economic risks associated with cyber warfare and strengthen cybersecurity resilience.</a:t>
            </a:r>
          </a:p>
          <a:p>
            <a:pPr marL="342900" lvl="0" indent="-342900" algn="just">
              <a:spcBef>
                <a:spcPts val="0"/>
              </a:spcBef>
              <a:buFont typeface="+mj-lt"/>
              <a:buAutoNum type="arabicPeriod"/>
            </a:pPr>
            <a:r>
              <a:rPr lang="en-IN" sz="2000" b="1" dirty="0">
                <a:latin typeface="Cambria" panose="02040503050406030204" pitchFamily="18" charset="0"/>
                <a:ea typeface="Cambria" panose="02040503050406030204" pitchFamily="18" charset="0"/>
              </a:rPr>
              <a:t>Promotion of Analytical, Research, and Collaborative Skills: </a:t>
            </a:r>
            <a:r>
              <a:rPr lang="en-IN" sz="2000" dirty="0">
                <a:latin typeface="Cambria" panose="02040503050406030204" pitchFamily="18" charset="0"/>
                <a:ea typeface="Cambria" panose="02040503050406030204" pitchFamily="18" charset="0"/>
              </a:rPr>
              <a:t>To foster critical thinking, teamwork, and research-based learning while analysing real-world cyber warfare incidents and their economic implications.</a:t>
            </a:r>
          </a:p>
        </p:txBody>
      </p:sp>
    </p:spTree>
    <p:extLst>
      <p:ext uri="{BB962C8B-B14F-4D97-AF65-F5344CB8AC3E}">
        <p14:creationId xmlns:p14="http://schemas.microsoft.com/office/powerpoint/2010/main" val="10762975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9789D-041C-A99F-89FE-E5BF259D55FD}"/>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46C1A027-6CCE-B67C-7BEE-D19FFC88EE78}"/>
              </a:ext>
            </a:extLst>
          </p:cNvPr>
          <p:cNvGraphicFramePr>
            <a:graphicFrameLocks noGrp="1"/>
          </p:cNvGraphicFramePr>
          <p:nvPr>
            <p:extLst>
              <p:ext uri="{D42A27DB-BD31-4B8C-83A1-F6EECF244321}">
                <p14:modId xmlns:p14="http://schemas.microsoft.com/office/powerpoint/2010/main" val="1911515827"/>
              </p:ext>
            </p:extLst>
          </p:nvPr>
        </p:nvGraphicFramePr>
        <p:xfrm>
          <a:off x="460375" y="600294"/>
          <a:ext cx="11508106" cy="6135497"/>
        </p:xfrm>
        <a:graphic>
          <a:graphicData uri="http://schemas.openxmlformats.org/drawingml/2006/table">
            <a:tbl>
              <a:tblPr firstRow="1" firstCol="1" bandRow="1"/>
              <a:tblGrid>
                <a:gridCol w="1735048">
                  <a:extLst>
                    <a:ext uri="{9D8B030D-6E8A-4147-A177-3AD203B41FA5}">
                      <a16:colId xmlns:a16="http://schemas.microsoft.com/office/drawing/2014/main" val="2676294463"/>
                    </a:ext>
                  </a:extLst>
                </a:gridCol>
                <a:gridCol w="3274128">
                  <a:extLst>
                    <a:ext uri="{9D8B030D-6E8A-4147-A177-3AD203B41FA5}">
                      <a16:colId xmlns:a16="http://schemas.microsoft.com/office/drawing/2014/main" val="539383465"/>
                    </a:ext>
                  </a:extLst>
                </a:gridCol>
                <a:gridCol w="6498930">
                  <a:extLst>
                    <a:ext uri="{9D8B030D-6E8A-4147-A177-3AD203B41FA5}">
                      <a16:colId xmlns:a16="http://schemas.microsoft.com/office/drawing/2014/main" val="140579776"/>
                    </a:ext>
                  </a:extLst>
                </a:gridCol>
              </a:tblGrid>
              <a:tr h="0">
                <a:tc>
                  <a:txBody>
                    <a:bodyPr/>
                    <a:lstStyle/>
                    <a:p>
                      <a:pPr algn="ct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Phase</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Stages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Activity</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0750971"/>
                  </a:ext>
                </a:extLst>
              </a:tr>
              <a:tr h="0">
                <a:tc rowSpan="2">
                  <a:txBody>
                    <a:bodyPr/>
                    <a:lstStyle/>
                    <a:p>
                      <a:pP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Scope</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I – Case Study Exploration</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Analyse cyber warfare incidents and identify economic impacts.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5118916"/>
                  </a:ext>
                </a:extLst>
              </a:tr>
              <a:tr h="0">
                <a:tc vMerge="1">
                  <a:txBody>
                    <a:bodyPr/>
                    <a:lstStyle/>
                    <a:p>
                      <a:endParaRPr lang="en-IN"/>
                    </a:p>
                  </a:txBody>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II – Idea Posting</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Mind mapping to identify causes, sectors affected, and risks.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5027361"/>
                  </a:ext>
                </a:extLst>
              </a:tr>
              <a:tr h="0">
                <a:tc>
                  <a:txBody>
                    <a:bodyPr/>
                    <a:lstStyle/>
                    <a:p>
                      <a:pP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Empathize</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III – Stakeholder Mapping</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Survey stakeholders (banks, businesses, government, users) to understand cyber risks.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1310729"/>
                  </a:ext>
                </a:extLst>
              </a:tr>
              <a:tr h="0">
                <a:tc>
                  <a:txBody>
                    <a:bodyPr/>
                    <a:lstStyle/>
                    <a:p>
                      <a:pP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Define</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IV – Idea Layout</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Cluster insights to define key economic problems of cyber warfare.</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084493"/>
                  </a:ext>
                </a:extLst>
              </a:tr>
              <a:tr h="0">
                <a:tc rowSpan="2">
                  <a:txBody>
                    <a:bodyPr/>
                    <a:lstStyle/>
                    <a:p>
                      <a:pP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Ideate</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V – Reflection</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Evaluate possible cybersecurity and economic solutions.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0179459"/>
                  </a:ext>
                </a:extLst>
              </a:tr>
              <a:tr h="0">
                <a:tc vMerge="1">
                  <a:txBody>
                    <a:bodyPr/>
                    <a:lstStyle/>
                    <a:p>
                      <a:endParaRPr lang="en-IN"/>
                    </a:p>
                  </a:txBody>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VI – Resources Identification</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Identify research sources, data tools, and project resources.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68548"/>
                  </a:ext>
                </a:extLst>
              </a:tr>
              <a:tr h="0">
                <a:tc rowSpan="3">
                  <a:txBody>
                    <a:bodyPr/>
                    <a:lstStyle/>
                    <a:p>
                      <a:pP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Prototype</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VII – Execution Framework</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Develop dashboard and cyber risk analysis model.</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4401398"/>
                  </a:ext>
                </a:extLst>
              </a:tr>
              <a:tr h="0">
                <a:tc vMerge="1">
                  <a:txBody>
                    <a:bodyPr/>
                    <a:lstStyle/>
                    <a:p>
                      <a:endParaRPr lang="en-IN"/>
                    </a:p>
                  </a:txBody>
                  <a:tcPr/>
                </a:tc>
                <a:tc>
                  <a:txBody>
                    <a:bodyPr/>
                    <a:lstStyle/>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Stage VIII – Micromodule</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Create mind maps and simulated datasets.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4551586"/>
                  </a:ext>
                </a:extLst>
              </a:tr>
              <a:tr h="0">
                <a:tc vMerge="1">
                  <a:txBody>
                    <a:bodyPr/>
                    <a:lstStyle/>
                    <a:p>
                      <a:endParaRPr lang="en-IN"/>
                    </a:p>
                  </a:txBody>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IX – Process Flow</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Design flowchart for data analysis and visualization.</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1551709"/>
                  </a:ext>
                </a:extLst>
              </a:tr>
              <a:tr h="0">
                <a:tc>
                  <a:txBody>
                    <a:bodyPr/>
                    <a:lstStyle/>
                    <a:p>
                      <a:pP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Validation</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X – Testing</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Test dashboard, risk mapping, and proposed solutions.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6181358"/>
                  </a:ext>
                </a:extLst>
              </a:tr>
              <a:tr h="0">
                <a:tc>
                  <a:txBody>
                    <a:bodyPr/>
                    <a:lstStyle/>
                    <a:p>
                      <a:pP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Implementation</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XI – Implement</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Implement analysis model and visualize cyber attack impacts.</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3184339"/>
                  </a:ext>
                </a:extLst>
              </a:tr>
              <a:tr h="0">
                <a:tc>
                  <a:txBody>
                    <a:bodyPr/>
                    <a:lstStyle/>
                    <a:p>
                      <a:pP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Report</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a:effectLst/>
                          <a:latin typeface="Cambria" panose="02040503050406030204" pitchFamily="18" charset="0"/>
                          <a:ea typeface="Cambria" panose="02040503050406030204" pitchFamily="18" charset="0"/>
                          <a:cs typeface="Mangal" panose="02040503050203030202" pitchFamily="18" charset="0"/>
                        </a:rPr>
                        <a:t>Stage XII – Inference Report</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Prepare final report with findings and recommendations.</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793617"/>
                  </a:ext>
                </a:extLst>
              </a:tr>
            </a:tbl>
          </a:graphicData>
        </a:graphic>
      </p:graphicFrame>
      <p:sp>
        <p:nvSpPr>
          <p:cNvPr id="10" name="Title 1">
            <a:extLst>
              <a:ext uri="{FF2B5EF4-FFF2-40B4-BE49-F238E27FC236}">
                <a16:creationId xmlns:a16="http://schemas.microsoft.com/office/drawing/2014/main" id="{3E43AECB-C65B-AEC8-AC86-5425B227F2B7}"/>
              </a:ext>
            </a:extLst>
          </p:cNvPr>
          <p:cNvSpPr>
            <a:spLocks noGrp="1"/>
          </p:cNvSpPr>
          <p:nvPr>
            <p:ph type="title"/>
          </p:nvPr>
        </p:nvSpPr>
        <p:spPr>
          <a:xfrm>
            <a:off x="609599" y="-106680"/>
            <a:ext cx="10556241" cy="685800"/>
          </a:xfrm>
        </p:spPr>
        <p:txBody>
          <a:bodyPr anchor="b">
            <a:normAutofit/>
          </a:bodyPr>
          <a:lstStyle/>
          <a:p>
            <a:pPr algn="ctr"/>
            <a:r>
              <a:rPr lang="en-US" sz="3400" b="1" dirty="0">
                <a:latin typeface="Cambria" panose="02040503050406030204" pitchFamily="18" charset="0"/>
                <a:ea typeface="Cambria" panose="02040503050406030204" pitchFamily="18" charset="0"/>
              </a:rPr>
              <a:t>Project Planning</a:t>
            </a:r>
          </a:p>
        </p:txBody>
      </p:sp>
    </p:spTree>
    <p:extLst>
      <p:ext uri="{BB962C8B-B14F-4D97-AF65-F5344CB8AC3E}">
        <p14:creationId xmlns:p14="http://schemas.microsoft.com/office/powerpoint/2010/main" val="101407150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251C-B141-7580-5114-0F396FD68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DCC6C-659F-4877-9C50-66635FA864EA}"/>
              </a:ext>
            </a:extLst>
          </p:cNvPr>
          <p:cNvSpPr>
            <a:spLocks noGrp="1"/>
          </p:cNvSpPr>
          <p:nvPr>
            <p:ph type="title"/>
          </p:nvPr>
        </p:nvSpPr>
        <p:spPr>
          <a:xfrm>
            <a:off x="582551" y="81597"/>
            <a:ext cx="10963655" cy="614680"/>
          </a:xfrm>
        </p:spPr>
        <p:txBody>
          <a:bodyPr anchor="b">
            <a:normAutofit/>
          </a:bodyPr>
          <a:lstStyle/>
          <a:p>
            <a:pPr algn="ctr"/>
            <a:r>
              <a:rPr lang="en-US" sz="2800" dirty="0">
                <a:latin typeface="Cambria" panose="02040503050406030204" pitchFamily="18" charset="0"/>
                <a:ea typeface="Cambria" panose="02040503050406030204" pitchFamily="18" charset="0"/>
              </a:rPr>
              <a:t>Requirements and Specifications</a:t>
            </a:r>
          </a:p>
        </p:txBody>
      </p:sp>
      <p:sp>
        <p:nvSpPr>
          <p:cNvPr id="4" name="Content Placeholder 3">
            <a:extLst>
              <a:ext uri="{FF2B5EF4-FFF2-40B4-BE49-F238E27FC236}">
                <a16:creationId xmlns:a16="http://schemas.microsoft.com/office/drawing/2014/main" id="{CA6A1F26-2E2D-AA75-CCA3-CAE2B8672C8D}"/>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924560"/>
            <a:ext cx="5074920" cy="5699760"/>
          </a:xfrm>
        </p:spPr>
        <p:style>
          <a:lnRef idx="2">
            <a:schemeClr val="dk1"/>
          </a:lnRef>
          <a:fillRef idx="1">
            <a:schemeClr val="lt1"/>
          </a:fillRef>
          <a:effectRef idx="0">
            <a:schemeClr val="dk1"/>
          </a:effectRef>
          <a:fontRef idx="minor">
            <a:schemeClr val="dk1"/>
          </a:fontRef>
        </p:style>
        <p:txBody>
          <a:bodyPr>
            <a:noAutofit/>
          </a:bodyPr>
          <a:lstStyle/>
          <a:p>
            <a:r>
              <a:rPr lang="en-US" sz="2400" b="1" dirty="0">
                <a:latin typeface="Cambria" panose="02040503050406030204" pitchFamily="18" charset="0"/>
                <a:ea typeface="Cambria" panose="02040503050406030204" pitchFamily="18" charset="0"/>
              </a:rPr>
              <a:t>Project Requirements:</a:t>
            </a:r>
          </a:p>
          <a:p>
            <a:r>
              <a:rPr lang="en-US" sz="2400" b="1" dirty="0">
                <a:latin typeface="Cambria" panose="02040503050406030204" pitchFamily="18" charset="0"/>
                <a:ea typeface="Cambria" panose="02040503050406030204" pitchFamily="18" charset="0"/>
              </a:rPr>
              <a:t>Group Formation</a:t>
            </a:r>
            <a:r>
              <a:rPr lang="en-US" sz="2400" dirty="0">
                <a:latin typeface="Cambria" panose="02040503050406030204" pitchFamily="18" charset="0"/>
                <a:ea typeface="Cambria" panose="02040503050406030204" pitchFamily="18" charset="0"/>
              </a:rPr>
              <a:t> – Students work in groups of 4–5.</a:t>
            </a:r>
          </a:p>
          <a:p>
            <a:r>
              <a:rPr lang="en-US" sz="2400" b="1" dirty="0">
                <a:latin typeface="Cambria" panose="02040503050406030204" pitchFamily="18" charset="0"/>
                <a:ea typeface="Cambria" panose="02040503050406030204" pitchFamily="18" charset="0"/>
              </a:rPr>
              <a:t>Data Sources</a:t>
            </a:r>
            <a:r>
              <a:rPr lang="en-US" sz="2400" dirty="0">
                <a:latin typeface="Cambria" panose="02040503050406030204" pitchFamily="18" charset="0"/>
                <a:ea typeface="Cambria" panose="02040503050406030204" pitchFamily="18" charset="0"/>
              </a:rPr>
              <a:t> – Use of government reports, IMF/World Bank/UN reports, cybersecurity reports, journals, and news.</a:t>
            </a:r>
          </a:p>
          <a:p>
            <a:r>
              <a:rPr lang="en-US" sz="2400" b="1" dirty="0">
                <a:latin typeface="Cambria" panose="02040503050406030204" pitchFamily="18" charset="0"/>
                <a:ea typeface="Cambria" panose="02040503050406030204" pitchFamily="18" charset="0"/>
              </a:rPr>
              <a:t>Digital Infrastructure and Software Tools - </a:t>
            </a:r>
            <a:r>
              <a:rPr lang="en-US" sz="2400" dirty="0">
                <a:latin typeface="Cambria" panose="02040503050406030204" pitchFamily="18" charset="0"/>
                <a:ea typeface="Cambria" panose="02040503050406030204" pitchFamily="18" charset="0"/>
              </a:rPr>
              <a:t>Such as Excel, Power BI, and design platforms for preparing dashboards, charts, and infographics.</a:t>
            </a:r>
          </a:p>
          <a:p>
            <a:r>
              <a:rPr lang="en-US" sz="2400" b="1" dirty="0">
                <a:latin typeface="Cambria" panose="02040503050406030204" pitchFamily="18" charset="0"/>
                <a:ea typeface="Cambria" panose="02040503050406030204" pitchFamily="18" charset="0"/>
              </a:rPr>
              <a:t>Communication and Internet Resources </a:t>
            </a:r>
          </a:p>
          <a:p>
            <a:br>
              <a:rPr lang="en-US" sz="2400" dirty="0">
                <a:latin typeface="Cambria" panose="02040503050406030204" pitchFamily="18" charset="0"/>
                <a:ea typeface="Cambria" panose="02040503050406030204" pitchFamily="18" charset="0"/>
              </a:rPr>
            </a:br>
            <a:endParaRPr lang="en-US" sz="2400"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977FDD2B-9044-50CD-490D-A8D08BFAEAB9}"/>
              </a:ext>
            </a:extLst>
          </p:cNvPr>
          <p:cNvSpPr>
            <a:spLocks noGrp="1"/>
          </p:cNvSpPr>
          <p:nvPr>
            <p:ph sz="quarter" idx="16"/>
          </p:nvPr>
        </p:nvSpPr>
        <p:spPr>
          <a:xfrm>
            <a:off x="6470969" y="924560"/>
            <a:ext cx="5075237" cy="5699760"/>
          </a:xfrm>
        </p:spPr>
        <p:style>
          <a:lnRef idx="2">
            <a:schemeClr val="dk1"/>
          </a:lnRef>
          <a:fillRef idx="1">
            <a:schemeClr val="lt1"/>
          </a:fillRef>
          <a:effectRef idx="0">
            <a:schemeClr val="dk1"/>
          </a:effectRef>
          <a:fontRef idx="minor">
            <a:schemeClr val="dk1"/>
          </a:fontRef>
        </p:style>
        <p:txBody>
          <a:bodyPr/>
          <a:lstStyle/>
          <a:p>
            <a:r>
              <a:rPr lang="en-IN" sz="2400" b="1" dirty="0">
                <a:latin typeface="Cambria" panose="02040503050406030204" pitchFamily="18" charset="0"/>
                <a:ea typeface="Cambria" panose="02040503050406030204" pitchFamily="18" charset="0"/>
              </a:rPr>
              <a:t>Project Specifications:</a:t>
            </a:r>
          </a:p>
          <a:p>
            <a:r>
              <a:rPr lang="en-IN" sz="2400" b="1" dirty="0">
                <a:latin typeface="Cambria" panose="02040503050406030204" pitchFamily="18" charset="0"/>
                <a:ea typeface="Cambria" panose="02040503050406030204" pitchFamily="18" charset="0"/>
              </a:rPr>
              <a:t>Target group – </a:t>
            </a:r>
            <a:r>
              <a:rPr lang="en-IN" sz="2400" dirty="0">
                <a:latin typeface="Cambria" panose="02040503050406030204" pitchFamily="18" charset="0"/>
                <a:ea typeface="Cambria" panose="02040503050406030204" pitchFamily="18" charset="0"/>
              </a:rPr>
              <a:t>Third Year UG students</a:t>
            </a:r>
            <a:endParaRPr lang="en-IN" sz="2400" b="1" dirty="0">
              <a:latin typeface="Cambria" panose="02040503050406030204" pitchFamily="18" charset="0"/>
              <a:ea typeface="Cambria" panose="02040503050406030204" pitchFamily="18" charset="0"/>
            </a:endParaRPr>
          </a:p>
          <a:p>
            <a:r>
              <a:rPr lang="en-IN" sz="2400" b="1" dirty="0">
                <a:latin typeface="Cambria" panose="02040503050406030204" pitchFamily="18" charset="0"/>
                <a:ea typeface="Cambria" panose="02040503050406030204" pitchFamily="18" charset="0"/>
              </a:rPr>
              <a:t>Duration </a:t>
            </a:r>
            <a:r>
              <a:rPr lang="en-IN" sz="2400" dirty="0">
                <a:latin typeface="Cambria" panose="02040503050406030204" pitchFamily="18" charset="0"/>
                <a:ea typeface="Cambria" panose="02040503050406030204" pitchFamily="18" charset="0"/>
              </a:rPr>
              <a:t>– 2–3 weeks.</a:t>
            </a:r>
          </a:p>
          <a:p>
            <a:r>
              <a:rPr lang="en-IN" sz="2400" b="1" dirty="0">
                <a:latin typeface="Cambria" panose="02040503050406030204" pitchFamily="18" charset="0"/>
                <a:ea typeface="Cambria" panose="02040503050406030204" pitchFamily="18" charset="0"/>
              </a:rPr>
              <a:t>Report Length </a:t>
            </a:r>
            <a:r>
              <a:rPr lang="en-IN" sz="2400" dirty="0">
                <a:latin typeface="Cambria" panose="02040503050406030204" pitchFamily="18" charset="0"/>
                <a:ea typeface="Cambria" panose="02040503050406030204" pitchFamily="18" charset="0"/>
              </a:rPr>
              <a:t>– 10–15 pages.</a:t>
            </a:r>
          </a:p>
          <a:p>
            <a:r>
              <a:rPr lang="en-IN" sz="2400" b="1" dirty="0">
                <a:latin typeface="Cambria" panose="02040503050406030204" pitchFamily="18" charset="0"/>
                <a:ea typeface="Cambria" panose="02040503050406030204" pitchFamily="18" charset="0"/>
              </a:rPr>
              <a:t>Visual Tools </a:t>
            </a:r>
            <a:r>
              <a:rPr lang="en-IN" sz="2400" dirty="0">
                <a:latin typeface="Cambria" panose="02040503050406030204" pitchFamily="18" charset="0"/>
                <a:ea typeface="Cambria" panose="02040503050406030204" pitchFamily="18" charset="0"/>
              </a:rPr>
              <a:t>– Use charts, graphs, flowcharts, infographics.</a:t>
            </a:r>
          </a:p>
          <a:p>
            <a:r>
              <a:rPr lang="en-IN" sz="2400" b="1" dirty="0">
                <a:latin typeface="Cambria" panose="02040503050406030204" pitchFamily="18" charset="0"/>
                <a:ea typeface="Cambria" panose="02040503050406030204" pitchFamily="18" charset="0"/>
              </a:rPr>
              <a:t>Assessment</a:t>
            </a:r>
            <a:r>
              <a:rPr lang="en-IN" sz="2400" dirty="0">
                <a:latin typeface="Cambria" panose="02040503050406030204" pitchFamily="18" charset="0"/>
                <a:ea typeface="Cambria" panose="02040503050406030204" pitchFamily="18" charset="0"/>
              </a:rPr>
              <a:t> – Based on research, design thinking application, solution quality, teamwork, presentation.</a:t>
            </a:r>
          </a:p>
          <a:p>
            <a:r>
              <a:rPr lang="en-IN" sz="2400" b="1" dirty="0">
                <a:latin typeface="Cambria" panose="02040503050406030204" pitchFamily="18" charset="0"/>
                <a:ea typeface="Cambria" panose="02040503050406030204" pitchFamily="18" charset="0"/>
              </a:rPr>
              <a:t>Deliverables</a:t>
            </a:r>
            <a:r>
              <a:rPr lang="en-IN" sz="2400" dirty="0">
                <a:latin typeface="Cambria" panose="02040503050406030204" pitchFamily="18" charset="0"/>
                <a:ea typeface="Cambria" panose="02040503050406030204" pitchFamily="18" charset="0"/>
              </a:rPr>
              <a:t> – Report, presentation slides, design thinking documentation, solution proposal.</a:t>
            </a:r>
          </a:p>
          <a:p>
            <a:endParaRPr lang="en-IN" sz="2400" dirty="0">
              <a:latin typeface="Cambria" panose="02040503050406030204" pitchFamily="18" charset="0"/>
              <a:ea typeface="Cambria" panose="02040503050406030204" pitchFamily="18" charset="0"/>
            </a:endParaRPr>
          </a:p>
          <a:p>
            <a:endParaRPr lang="en-I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56906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3">
                                            <p:bg/>
                                          </p:spTgt>
                                        </p:tgtEl>
                                        <p:attrNameLst>
                                          <p:attrName>style.visibility</p:attrName>
                                        </p:attrNameLst>
                                      </p:cBhvr>
                                      <p:to>
                                        <p:strVal val="visible"/>
                                      </p:to>
                                    </p:set>
                                    <p:animEffect transition="in" filter="fade">
                                      <p:cBhvr>
                                        <p:cTn id="11" dur="500"/>
                                        <p:tgtEl>
                                          <p:spTgt spid="3">
                                            <p:bg/>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uiExpand="1"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4108-6309-4B07-D7B3-83A7856DD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66ADB-C877-4F32-EFC3-D7707972E96D}"/>
              </a:ext>
            </a:extLst>
          </p:cNvPr>
          <p:cNvSpPr>
            <a:spLocks noGrp="1"/>
          </p:cNvSpPr>
          <p:nvPr>
            <p:ph type="title" idx="4294967295"/>
          </p:nvPr>
        </p:nvSpPr>
        <p:spPr>
          <a:xfrm>
            <a:off x="614361" y="434194"/>
            <a:ext cx="10963275" cy="615950"/>
          </a:xfrm>
        </p:spPr>
        <p:txBody>
          <a:bodyPr anchor="b">
            <a:normAutofit/>
          </a:bodyPr>
          <a:lstStyle/>
          <a:p>
            <a:pPr algn="ctr"/>
            <a:r>
              <a:rPr lang="en-US" sz="2800" dirty="0">
                <a:latin typeface="Cambria" panose="02040503050406030204" pitchFamily="18" charset="0"/>
                <a:ea typeface="Cambria" panose="02040503050406030204" pitchFamily="18" charset="0"/>
              </a:rPr>
              <a:t>Solution Model/Outcome</a:t>
            </a:r>
          </a:p>
        </p:txBody>
      </p:sp>
      <p:pic>
        <p:nvPicPr>
          <p:cNvPr id="9" name="Picture 8">
            <a:extLst>
              <a:ext uri="{FF2B5EF4-FFF2-40B4-BE49-F238E27FC236}">
                <a16:creationId xmlns:a16="http://schemas.microsoft.com/office/drawing/2014/main" id="{281F408D-D0AD-1403-A2E9-AEA3D741D95F}"/>
              </a:ext>
            </a:extLst>
          </p:cNvPr>
          <p:cNvPicPr>
            <a:picLocks noChangeAspect="1"/>
          </p:cNvPicPr>
          <p:nvPr/>
        </p:nvPicPr>
        <p:blipFill>
          <a:blip r:embed="rId3"/>
          <a:stretch>
            <a:fillRect/>
          </a:stretch>
        </p:blipFill>
        <p:spPr>
          <a:xfrm>
            <a:off x="368299" y="1457007"/>
            <a:ext cx="11455401" cy="4350849"/>
          </a:xfrm>
          <a:prstGeom prst="rect">
            <a:avLst/>
          </a:prstGeom>
        </p:spPr>
      </p:pic>
    </p:spTree>
    <p:extLst>
      <p:ext uri="{BB962C8B-B14F-4D97-AF65-F5344CB8AC3E}">
        <p14:creationId xmlns:p14="http://schemas.microsoft.com/office/powerpoint/2010/main" val="101194837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F063D-AE00-7B5F-2625-A43B199FA9B4}"/>
              </a:ext>
            </a:extLst>
          </p:cNvPr>
          <p:cNvSpPr>
            <a:spLocks noGrp="1"/>
          </p:cNvSpPr>
          <p:nvPr>
            <p:ph type="ctrTitle"/>
          </p:nvPr>
        </p:nvSpPr>
        <p:spPr>
          <a:xfrm>
            <a:off x="609600" y="990600"/>
            <a:ext cx="10058400" cy="5029200"/>
          </a:xfrm>
        </p:spPr>
        <p:txBody>
          <a:bodyPr anchor="b">
            <a:normAutofit/>
          </a:bodyPr>
          <a:lstStyle/>
          <a:p>
            <a:r>
              <a:rPr lang="en-US" sz="10200" dirty="0"/>
              <a:t>Design Thinking Phases</a:t>
            </a:r>
          </a:p>
        </p:txBody>
      </p:sp>
    </p:spTree>
    <p:extLst>
      <p:ext uri="{BB962C8B-B14F-4D97-AF65-F5344CB8AC3E}">
        <p14:creationId xmlns:p14="http://schemas.microsoft.com/office/powerpoint/2010/main" val="8180665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BF1B-CD99-2AE3-9EA2-9AB0C1761FA2}"/>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I – Scope:</a:t>
            </a:r>
          </a:p>
        </p:txBody>
      </p:sp>
      <p:graphicFrame>
        <p:nvGraphicFramePr>
          <p:cNvPr id="7" name="Table 6">
            <a:extLst>
              <a:ext uri="{FF2B5EF4-FFF2-40B4-BE49-F238E27FC236}">
                <a16:creationId xmlns:a16="http://schemas.microsoft.com/office/drawing/2014/main" id="{A4A0F4B0-3EDE-8F4B-B094-5ADD8F0017D3}"/>
              </a:ext>
            </a:extLst>
          </p:cNvPr>
          <p:cNvGraphicFramePr>
            <a:graphicFrameLocks noGrp="1"/>
          </p:cNvGraphicFramePr>
          <p:nvPr>
            <p:extLst>
              <p:ext uri="{D42A27DB-BD31-4B8C-83A1-F6EECF244321}">
                <p14:modId xmlns:p14="http://schemas.microsoft.com/office/powerpoint/2010/main" val="1296384824"/>
              </p:ext>
            </p:extLst>
          </p:nvPr>
        </p:nvGraphicFramePr>
        <p:xfrm>
          <a:off x="0" y="486092"/>
          <a:ext cx="12192000" cy="5938394"/>
        </p:xfrm>
        <a:graphic>
          <a:graphicData uri="http://schemas.openxmlformats.org/drawingml/2006/table">
            <a:tbl>
              <a:tblPr firstRow="1" firstCol="1" bandRow="1">
                <a:tableStyleId>{22838BEF-8BB2-4498-84A7-C5851F593DF1}</a:tableStyleId>
              </a:tblPr>
              <a:tblGrid>
                <a:gridCol w="1237561">
                  <a:extLst>
                    <a:ext uri="{9D8B030D-6E8A-4147-A177-3AD203B41FA5}">
                      <a16:colId xmlns:a16="http://schemas.microsoft.com/office/drawing/2014/main" val="3867415840"/>
                    </a:ext>
                  </a:extLst>
                </a:gridCol>
                <a:gridCol w="5254679">
                  <a:extLst>
                    <a:ext uri="{9D8B030D-6E8A-4147-A177-3AD203B41FA5}">
                      <a16:colId xmlns:a16="http://schemas.microsoft.com/office/drawing/2014/main" val="2329674036"/>
                    </a:ext>
                  </a:extLst>
                </a:gridCol>
                <a:gridCol w="2651760">
                  <a:extLst>
                    <a:ext uri="{9D8B030D-6E8A-4147-A177-3AD203B41FA5}">
                      <a16:colId xmlns:a16="http://schemas.microsoft.com/office/drawing/2014/main" val="77315634"/>
                    </a:ext>
                  </a:extLst>
                </a:gridCol>
                <a:gridCol w="30480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rPr>
                        <a:t>Stage I – Case Study Exploration</a:t>
                      </a: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rPr>
                        <a:t>Research &amp; Discussion on Cyber Warfare Incidents</a:t>
                      </a:r>
                      <a:r>
                        <a:rPr lang="en-IN" sz="2400" kern="100" dirty="0">
                          <a:effectLst/>
                          <a:latin typeface="Cambria" panose="02040503050406030204" pitchFamily="18" charset="0"/>
                          <a:ea typeface="Cambria" panose="02040503050406030204" pitchFamily="18" charset="0"/>
                        </a:rPr>
                        <a:t> </a:t>
                      </a:r>
                    </a:p>
                    <a:p>
                      <a:pPr>
                        <a:lnSpc>
                          <a:spcPct val="107000"/>
                        </a:lnSpc>
                        <a:spcAft>
                          <a:spcPts val="0"/>
                        </a:spcAft>
                        <a:buNone/>
                      </a:pPr>
                      <a:r>
                        <a:rPr lang="en-IN" sz="2400" kern="100" dirty="0">
                          <a:effectLst/>
                          <a:latin typeface="Cambria" panose="02040503050406030204" pitchFamily="18" charset="0"/>
                          <a:ea typeface="Cambria" panose="02040503050406030204" pitchFamily="18" charset="0"/>
                        </a:rPr>
                        <a:t>• Students analyse real cyber warfare incidents affecting economic systems such as attacks on banking networks, stock exchanges, and digital payment platforms. </a:t>
                      </a:r>
                    </a:p>
                    <a:p>
                      <a:pPr>
                        <a:lnSpc>
                          <a:spcPct val="107000"/>
                        </a:lnSpc>
                        <a:spcAft>
                          <a:spcPts val="0"/>
                        </a:spcAft>
                        <a:buNone/>
                      </a:pPr>
                      <a:r>
                        <a:rPr lang="en-IN" sz="2400" kern="100" dirty="0">
                          <a:effectLst/>
                          <a:latin typeface="Cambria" panose="02040503050406030204" pitchFamily="18" charset="0"/>
                          <a:ea typeface="Cambria" panose="02040503050406030204" pitchFamily="18" charset="0"/>
                        </a:rPr>
                        <a:t>• Identify </a:t>
                      </a:r>
                      <a:r>
                        <a:rPr lang="en-IN" sz="2400" b="1" kern="100" dirty="0">
                          <a:effectLst/>
                          <a:latin typeface="Cambria" panose="02040503050406030204" pitchFamily="18" charset="0"/>
                          <a:ea typeface="Cambria" panose="02040503050406030204" pitchFamily="18" charset="0"/>
                        </a:rPr>
                        <a:t>economic consequences</a:t>
                      </a:r>
                      <a:r>
                        <a:rPr lang="en-IN" sz="2400" kern="100" dirty="0">
                          <a:effectLst/>
                          <a:latin typeface="Cambria" panose="02040503050406030204" pitchFamily="18" charset="0"/>
                          <a:ea typeface="Cambria" panose="02040503050406030204" pitchFamily="18" charset="0"/>
                        </a:rPr>
                        <a:t> such as financial losses, disruption of trade and financial transactions, and decline in investor confidence. </a:t>
                      </a:r>
                    </a:p>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rPr>
                        <a:t>AI &amp; Digital Tools:</a:t>
                      </a:r>
                      <a:r>
                        <a:rPr lang="en-IN" sz="2400" kern="100" dirty="0">
                          <a:effectLst/>
                          <a:latin typeface="Cambria" panose="02040503050406030204" pitchFamily="18" charset="0"/>
                          <a:ea typeface="Cambria" panose="02040503050406030204" pitchFamily="18" charset="0"/>
                        </a:rPr>
                        <a:t> Google Scholar – for academic research and reports.</a:t>
                      </a:r>
                    </a:p>
                    <a:p>
                      <a:pPr>
                        <a:lnSpc>
                          <a:spcPct val="107000"/>
                        </a:lnSpc>
                        <a:spcAft>
                          <a:spcPts val="0"/>
                        </a:spcAft>
                        <a:buNone/>
                      </a:pPr>
                      <a:r>
                        <a:rPr lang="en-IN" sz="2400" u="sng" kern="100" dirty="0">
                          <a:solidFill>
                            <a:srgbClr val="0563C1"/>
                          </a:solidFill>
                          <a:effectLst/>
                          <a:latin typeface="Cambria" panose="02040503050406030204" pitchFamily="18" charset="0"/>
                          <a:ea typeface="Cambria" panose="02040503050406030204" pitchFamily="18" charset="0"/>
                          <a:hlinkClick r:id="rId4"/>
                        </a:rPr>
                        <a:t>Case Study</a:t>
                      </a: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rPr>
                        <a:t>Refined Problem Understanding:</a:t>
                      </a:r>
                      <a:r>
                        <a:rPr lang="en-IN" sz="2400" kern="100" dirty="0">
                          <a:effectLst/>
                          <a:latin typeface="Cambria" panose="02040503050406030204" pitchFamily="18" charset="0"/>
                          <a:ea typeface="Cambria" panose="02040503050406030204" pitchFamily="18" charset="0"/>
                        </a:rPr>
                        <a:t> Students develop a clear understanding of how cyber warfare affects economic systems and identify key areas where economic damage occurs.</a:t>
                      </a: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rPr>
                        <a:t>(4)</a:t>
                      </a:r>
                      <a:r>
                        <a:rPr lang="en-IN" sz="2400" kern="100" dirty="0">
                          <a:effectLst/>
                          <a:latin typeface="Cambria" panose="02040503050406030204" pitchFamily="18" charset="0"/>
                          <a:ea typeface="Cambria" panose="02040503050406030204" pitchFamily="18" charset="0"/>
                        </a:rPr>
                        <a:t> Economic problem identified clearly with strong case study insights and supporting evidence. </a:t>
                      </a:r>
                      <a:r>
                        <a:rPr lang="en-IN" sz="2400" b="1" kern="100" dirty="0">
                          <a:effectLst/>
                          <a:latin typeface="Cambria" panose="02040503050406030204" pitchFamily="18" charset="0"/>
                          <a:ea typeface="Cambria" panose="02040503050406030204" pitchFamily="18" charset="0"/>
                        </a:rPr>
                        <a:t>(3)</a:t>
                      </a:r>
                      <a:r>
                        <a:rPr lang="en-IN" sz="2400" kern="100" dirty="0">
                          <a:effectLst/>
                          <a:latin typeface="Cambria" panose="02040503050406030204" pitchFamily="18" charset="0"/>
                          <a:ea typeface="Cambria" panose="02040503050406030204" pitchFamily="18" charset="0"/>
                        </a:rPr>
                        <a:t> Problem explained with relevant insights but moderate clarity. </a:t>
                      </a:r>
                      <a:r>
                        <a:rPr lang="en-IN" sz="2400" b="1" kern="100" dirty="0">
                          <a:effectLst/>
                          <a:latin typeface="Cambria" panose="02040503050406030204" pitchFamily="18" charset="0"/>
                          <a:ea typeface="Cambria" panose="02040503050406030204" pitchFamily="18" charset="0"/>
                        </a:rPr>
                        <a:t>(2)</a:t>
                      </a:r>
                      <a:r>
                        <a:rPr lang="en-IN" sz="2400" kern="100" dirty="0">
                          <a:effectLst/>
                          <a:latin typeface="Cambria" panose="02040503050406030204" pitchFamily="18" charset="0"/>
                          <a:ea typeface="Cambria" panose="02040503050406030204" pitchFamily="18" charset="0"/>
                        </a:rPr>
                        <a:t> Problem identified but explanation lacks depth. </a:t>
                      </a:r>
                    </a:p>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rPr>
                        <a:t>(1)</a:t>
                      </a:r>
                      <a:r>
                        <a:rPr lang="en-IN" sz="2400" kern="100" dirty="0">
                          <a:effectLst/>
                          <a:latin typeface="Cambria" panose="02040503050406030204" pitchFamily="18" charset="0"/>
                          <a:ea typeface="Cambria" panose="02040503050406030204" pitchFamily="18" charset="0"/>
                        </a:rPr>
                        <a:t> Problem vaguely identified with limited supporting details.</a:t>
                      </a: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238041034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814B7A27-0C00-109A-E9D8-5507FA5B0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104B20-741B-751A-D5F4-C5E63267EC68}"/>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I – Scope:</a:t>
            </a:r>
          </a:p>
        </p:txBody>
      </p:sp>
      <p:graphicFrame>
        <p:nvGraphicFramePr>
          <p:cNvPr id="7" name="Table 6">
            <a:extLst>
              <a:ext uri="{FF2B5EF4-FFF2-40B4-BE49-F238E27FC236}">
                <a16:creationId xmlns:a16="http://schemas.microsoft.com/office/drawing/2014/main" id="{462A9A1D-97BE-FE66-8573-81547B014A0D}"/>
              </a:ext>
            </a:extLst>
          </p:cNvPr>
          <p:cNvGraphicFramePr>
            <a:graphicFrameLocks noGrp="1"/>
          </p:cNvGraphicFramePr>
          <p:nvPr>
            <p:extLst>
              <p:ext uri="{D42A27DB-BD31-4B8C-83A1-F6EECF244321}">
                <p14:modId xmlns:p14="http://schemas.microsoft.com/office/powerpoint/2010/main" val="3000714646"/>
              </p:ext>
            </p:extLst>
          </p:nvPr>
        </p:nvGraphicFramePr>
        <p:xfrm>
          <a:off x="0" y="486092"/>
          <a:ext cx="12192000" cy="5938394"/>
        </p:xfrm>
        <a:graphic>
          <a:graphicData uri="http://schemas.openxmlformats.org/drawingml/2006/table">
            <a:tbl>
              <a:tblPr firstRow="1" firstCol="1" bandRow="1">
                <a:tableStyleId>{22838BEF-8BB2-4498-84A7-C5851F593DF1}</a:tableStyleId>
              </a:tblPr>
              <a:tblGrid>
                <a:gridCol w="1237561">
                  <a:extLst>
                    <a:ext uri="{9D8B030D-6E8A-4147-A177-3AD203B41FA5}">
                      <a16:colId xmlns:a16="http://schemas.microsoft.com/office/drawing/2014/main" val="3867415840"/>
                    </a:ext>
                  </a:extLst>
                </a:gridCol>
                <a:gridCol w="5254679">
                  <a:extLst>
                    <a:ext uri="{9D8B030D-6E8A-4147-A177-3AD203B41FA5}">
                      <a16:colId xmlns:a16="http://schemas.microsoft.com/office/drawing/2014/main" val="2329674036"/>
                    </a:ext>
                  </a:extLst>
                </a:gridCol>
                <a:gridCol w="2651760">
                  <a:extLst>
                    <a:ext uri="{9D8B030D-6E8A-4147-A177-3AD203B41FA5}">
                      <a16:colId xmlns:a16="http://schemas.microsoft.com/office/drawing/2014/main" val="77315634"/>
                    </a:ext>
                  </a:extLst>
                </a:gridCol>
                <a:gridCol w="30480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cs typeface="Mangal" panose="02040503050203030202" pitchFamily="18" charset="0"/>
                        </a:rPr>
                        <a:t>Stage II – Idea Posting (Mind Mapping)</a:t>
                      </a: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cs typeface="Mangal" panose="02040503050203030202" pitchFamily="18" charset="0"/>
                        </a:rPr>
                        <a:t>Mind Mapping &amp; Problem Mapping Activity</a:t>
                      </a:r>
                      <a:r>
                        <a:rPr lang="en-IN" sz="2400" kern="100" dirty="0">
                          <a:effectLst/>
                          <a:latin typeface="Cambria" panose="02040503050406030204" pitchFamily="18" charset="0"/>
                          <a:ea typeface="Cambria" panose="02040503050406030204" pitchFamily="18" charset="0"/>
                          <a:cs typeface="Mangal" panose="02040503050203030202" pitchFamily="18" charset="0"/>
                        </a:rPr>
                        <a:t> Students create </a:t>
                      </a:r>
                      <a:r>
                        <a:rPr lang="en-IN" sz="2400" b="1" kern="100" dirty="0">
                          <a:effectLst/>
                          <a:latin typeface="Cambria" panose="02040503050406030204" pitchFamily="18" charset="0"/>
                          <a:ea typeface="Cambria" panose="02040503050406030204" pitchFamily="18" charset="0"/>
                          <a:cs typeface="Mangal" panose="02040503050203030202" pitchFamily="18" charset="0"/>
                        </a:rPr>
                        <a:t>mind maps</a:t>
                      </a:r>
                      <a:r>
                        <a:rPr lang="en-IN" sz="2400" kern="100" dirty="0">
                          <a:effectLst/>
                          <a:latin typeface="Cambria" panose="02040503050406030204" pitchFamily="18" charset="0"/>
                          <a:ea typeface="Cambria" panose="02040503050406030204" pitchFamily="18" charset="0"/>
                          <a:cs typeface="Mangal" panose="02040503050203030202" pitchFamily="18" charset="0"/>
                        </a:rPr>
                        <a:t> to identify: </a:t>
                      </a:r>
                    </a:p>
                    <a:p>
                      <a:pPr>
                        <a:lnSpc>
                          <a:spcPct val="107000"/>
                        </a:lnSpc>
                        <a:spcAft>
                          <a:spcPts val="0"/>
                        </a:spcAft>
                        <a:buNone/>
                      </a:pPr>
                      <a:r>
                        <a:rPr lang="en-IN" sz="2400" kern="100" dirty="0">
                          <a:effectLst/>
                          <a:latin typeface="Cambria" panose="02040503050406030204" pitchFamily="18" charset="0"/>
                          <a:ea typeface="Cambria" panose="02040503050406030204" pitchFamily="18" charset="0"/>
                          <a:cs typeface="Mangal" panose="02040503050203030202" pitchFamily="18" charset="0"/>
                        </a:rPr>
                        <a:t>• Causes of cyber warfare affecting economies </a:t>
                      </a:r>
                    </a:p>
                    <a:p>
                      <a:pPr>
                        <a:lnSpc>
                          <a:spcPct val="107000"/>
                        </a:lnSpc>
                        <a:spcAft>
                          <a:spcPts val="0"/>
                        </a:spcAft>
                        <a:buNone/>
                      </a:pPr>
                      <a:r>
                        <a:rPr lang="en-IN" sz="2400" kern="100" dirty="0">
                          <a:effectLst/>
                          <a:latin typeface="Cambria" panose="02040503050406030204" pitchFamily="18" charset="0"/>
                          <a:ea typeface="Cambria" panose="02040503050406030204" pitchFamily="18" charset="0"/>
                          <a:cs typeface="Mangal" panose="02040503050203030202" pitchFamily="18" charset="0"/>
                        </a:rPr>
                        <a:t>• Economic sectors affected (banking, trade, government systems, businesses)</a:t>
                      </a:r>
                    </a:p>
                    <a:p>
                      <a:pPr>
                        <a:lnSpc>
                          <a:spcPct val="107000"/>
                        </a:lnSpc>
                        <a:spcAft>
                          <a:spcPts val="0"/>
                        </a:spcAft>
                        <a:buNone/>
                      </a:pPr>
                      <a:r>
                        <a:rPr lang="en-IN" sz="2400" kern="100" dirty="0">
                          <a:effectLst/>
                          <a:latin typeface="Cambria" panose="02040503050406030204" pitchFamily="18" charset="0"/>
                          <a:ea typeface="Cambria" panose="02040503050406030204" pitchFamily="18" charset="0"/>
                          <a:cs typeface="Mangal" panose="02040503050203030202" pitchFamily="18" charset="0"/>
                        </a:rPr>
                        <a:t>• Possible economic risks and vulnerabilities. </a:t>
                      </a:r>
                    </a:p>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cs typeface="Mangal" panose="02040503050203030202" pitchFamily="18" charset="0"/>
                        </a:rPr>
                        <a:t>AI &amp; Digital Tools:</a:t>
                      </a:r>
                      <a:r>
                        <a:rPr lang="en-IN" sz="2400" kern="100" dirty="0">
                          <a:effectLst/>
                          <a:latin typeface="Cambria" panose="02040503050406030204" pitchFamily="18" charset="0"/>
                          <a:ea typeface="Cambria" panose="02040503050406030204" pitchFamily="18" charset="0"/>
                          <a:cs typeface="Mangal" panose="02040503050203030202" pitchFamily="18" charset="0"/>
                        </a:rPr>
                        <a:t> • Miro / </a:t>
                      </a:r>
                      <a:r>
                        <a:rPr lang="en-IN" sz="2400" kern="100" dirty="0" err="1">
                          <a:effectLst/>
                          <a:latin typeface="Cambria" panose="02040503050406030204" pitchFamily="18" charset="0"/>
                          <a:ea typeface="Cambria" panose="02040503050406030204" pitchFamily="18" charset="0"/>
                          <a:cs typeface="Mangal" panose="02040503050203030202" pitchFamily="18" charset="0"/>
                        </a:rPr>
                        <a:t>FigJam</a:t>
                      </a:r>
                      <a:r>
                        <a:rPr lang="en-IN" sz="2400" kern="100" dirty="0">
                          <a:effectLst/>
                          <a:latin typeface="Cambria" panose="02040503050406030204" pitchFamily="18" charset="0"/>
                          <a:ea typeface="Cambria" panose="02040503050406030204" pitchFamily="18" charset="0"/>
                          <a:cs typeface="Mangal" panose="02040503050203030202" pitchFamily="18" charset="0"/>
                        </a:rPr>
                        <a:t> – for mind mapping and visual collaboration. • Canva / </a:t>
                      </a:r>
                      <a:r>
                        <a:rPr lang="en-IN" sz="2400" kern="100" dirty="0" err="1">
                          <a:effectLst/>
                          <a:latin typeface="Cambria" panose="02040503050406030204" pitchFamily="18" charset="0"/>
                          <a:ea typeface="Cambria" panose="02040503050406030204" pitchFamily="18" charset="0"/>
                          <a:cs typeface="Mangal" panose="02040503050203030202" pitchFamily="18" charset="0"/>
                        </a:rPr>
                        <a:t>Lucidchart</a:t>
                      </a:r>
                      <a:r>
                        <a:rPr lang="en-IN" sz="2400" kern="100" dirty="0">
                          <a:effectLst/>
                          <a:latin typeface="Cambria" panose="02040503050406030204" pitchFamily="18" charset="0"/>
                          <a:ea typeface="Cambria" panose="02040503050406030204" pitchFamily="18" charset="0"/>
                          <a:cs typeface="Mangal" panose="02040503050203030202" pitchFamily="18" charset="0"/>
                        </a:rPr>
                        <a:t> – for creating concept maps and visual diagrams.</a:t>
                      </a:r>
                    </a:p>
                    <a:p>
                      <a:pPr>
                        <a:lnSpc>
                          <a:spcPct val="107000"/>
                        </a:lnSpc>
                        <a:spcAft>
                          <a:spcPts val="0"/>
                        </a:spcAft>
                        <a:buNone/>
                      </a:pPr>
                      <a:r>
                        <a:rPr lang="en-IN" sz="2400" u="sng" kern="100" dirty="0">
                          <a:solidFill>
                            <a:srgbClr val="0563C1"/>
                          </a:solidFill>
                          <a:effectLst/>
                          <a:latin typeface="Cambria" panose="02040503050406030204" pitchFamily="18" charset="0"/>
                          <a:ea typeface="Cambria" panose="02040503050406030204" pitchFamily="18" charset="0"/>
                          <a:cs typeface="Mangal" panose="02040503050203030202" pitchFamily="18" charset="0"/>
                          <a:hlinkClick r:id="rId4"/>
                        </a:rPr>
                        <a:t>Mind mapping</a:t>
                      </a: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cs typeface="Mangal" panose="02040503050203030202" pitchFamily="18" charset="0"/>
                        </a:rPr>
                        <a:t>Document / Abstract:</a:t>
                      </a:r>
                      <a:r>
                        <a:rPr lang="en-IN" sz="2400" kern="100" dirty="0">
                          <a:effectLst/>
                          <a:latin typeface="Cambria" panose="02040503050406030204" pitchFamily="18" charset="0"/>
                          <a:ea typeface="Cambria" panose="02040503050406030204" pitchFamily="18" charset="0"/>
                          <a:cs typeface="Mangal" panose="02040503050203030202" pitchFamily="18" charset="0"/>
                        </a:rPr>
                        <a:t> Students prepare a short </a:t>
                      </a:r>
                      <a:r>
                        <a:rPr lang="en-IN" sz="2400" b="1" kern="100" dirty="0">
                          <a:effectLst/>
                          <a:latin typeface="Cambria" panose="02040503050406030204" pitchFamily="18" charset="0"/>
                          <a:ea typeface="Cambria" panose="02040503050406030204" pitchFamily="18" charset="0"/>
                          <a:cs typeface="Mangal" panose="02040503050203030202" pitchFamily="18" charset="0"/>
                        </a:rPr>
                        <a:t>project abstract</a:t>
                      </a:r>
                      <a:r>
                        <a:rPr lang="en-IN" sz="2400" kern="100" dirty="0">
                          <a:effectLst/>
                          <a:latin typeface="Cambria" panose="02040503050406030204" pitchFamily="18" charset="0"/>
                          <a:ea typeface="Cambria" panose="02040503050406030204" pitchFamily="18" charset="0"/>
                          <a:cs typeface="Mangal" panose="02040503050203030202" pitchFamily="18" charset="0"/>
                        </a:rPr>
                        <a:t> outlining the problem, economic impact of cyber warfare, and the direction of the project.</a:t>
                      </a:r>
                    </a:p>
                  </a:txBody>
                  <a:tcPr marL="9525" marR="9525" marT="9525" marB="9525"/>
                </a:tc>
                <a:tc>
                  <a:txBody>
                    <a:bodyPr/>
                    <a:lstStyle/>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cs typeface="Mangal" panose="02040503050203030202" pitchFamily="18" charset="0"/>
                        </a:rPr>
                        <a:t>(4)</a:t>
                      </a:r>
                      <a:r>
                        <a:rPr lang="en-IN" sz="2400" kern="100" dirty="0">
                          <a:effectLst/>
                          <a:latin typeface="Cambria" panose="02040503050406030204" pitchFamily="18" charset="0"/>
                          <a:ea typeface="Cambria" panose="02040503050406030204" pitchFamily="18" charset="0"/>
                          <a:cs typeface="Mangal" panose="02040503050203030202" pitchFamily="18" charset="0"/>
                        </a:rPr>
                        <a:t> Problem is restated clearly with strong insights and detailed outputs. </a:t>
                      </a:r>
                    </a:p>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cs typeface="Mangal" panose="02040503050203030202" pitchFamily="18" charset="0"/>
                        </a:rPr>
                        <a:t>(3)</a:t>
                      </a:r>
                      <a:r>
                        <a:rPr lang="en-IN" sz="2400" kern="100" dirty="0">
                          <a:effectLst/>
                          <a:latin typeface="Cambria" panose="02040503050406030204" pitchFamily="18" charset="0"/>
                          <a:ea typeface="Cambria" panose="02040503050406030204" pitchFamily="18" charset="0"/>
                          <a:cs typeface="Mangal" panose="02040503050203030202" pitchFamily="18" charset="0"/>
                        </a:rPr>
                        <a:t> Problem restated with insights but outputs moderately explained. </a:t>
                      </a:r>
                    </a:p>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cs typeface="Mangal" panose="02040503050203030202" pitchFamily="18" charset="0"/>
                        </a:rPr>
                        <a:t>(2)</a:t>
                      </a:r>
                      <a:r>
                        <a:rPr lang="en-IN" sz="2400" kern="100" dirty="0">
                          <a:effectLst/>
                          <a:latin typeface="Cambria" panose="02040503050406030204" pitchFamily="18" charset="0"/>
                          <a:ea typeface="Cambria" panose="02040503050406030204" pitchFamily="18" charset="0"/>
                          <a:cs typeface="Mangal" panose="02040503050203030202" pitchFamily="18" charset="0"/>
                        </a:rPr>
                        <a:t> Problem restated but outputs partially explained. </a:t>
                      </a:r>
                    </a:p>
                    <a:p>
                      <a:pPr>
                        <a:lnSpc>
                          <a:spcPct val="107000"/>
                        </a:lnSpc>
                        <a:spcAft>
                          <a:spcPts val="0"/>
                        </a:spcAft>
                        <a:buNone/>
                      </a:pPr>
                      <a:r>
                        <a:rPr lang="en-IN" sz="2400" b="1" kern="100" dirty="0">
                          <a:effectLst/>
                          <a:latin typeface="Cambria" panose="02040503050406030204" pitchFamily="18" charset="0"/>
                          <a:ea typeface="Cambria" panose="02040503050406030204" pitchFamily="18" charset="0"/>
                          <a:cs typeface="Mangal" panose="02040503050203030202" pitchFamily="18" charset="0"/>
                        </a:rPr>
                        <a:t>(1)</a:t>
                      </a:r>
                      <a:r>
                        <a:rPr lang="en-IN" sz="2400" kern="100" dirty="0">
                          <a:effectLst/>
                          <a:latin typeface="Cambria" panose="02040503050406030204" pitchFamily="18" charset="0"/>
                          <a:ea typeface="Cambria" panose="02040503050406030204" pitchFamily="18" charset="0"/>
                          <a:cs typeface="Mangal" panose="02040503050203030202" pitchFamily="18" charset="0"/>
                        </a:rPr>
                        <a:t> Problem vaguely restated with unclear outputs.</a:t>
                      </a: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163869363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8CC6AD53-3D34-30FC-7E8C-E3BF628B7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17320-8E11-9398-1964-42A85B1E5C79}"/>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2 – empathy:</a:t>
            </a:r>
          </a:p>
        </p:txBody>
      </p:sp>
      <p:graphicFrame>
        <p:nvGraphicFramePr>
          <p:cNvPr id="7" name="Table 6">
            <a:extLst>
              <a:ext uri="{FF2B5EF4-FFF2-40B4-BE49-F238E27FC236}">
                <a16:creationId xmlns:a16="http://schemas.microsoft.com/office/drawing/2014/main" id="{8C94A7F2-DC22-BA49-EAB8-9684C6326725}"/>
              </a:ext>
            </a:extLst>
          </p:cNvPr>
          <p:cNvGraphicFramePr>
            <a:graphicFrameLocks noGrp="1"/>
          </p:cNvGraphicFramePr>
          <p:nvPr>
            <p:extLst>
              <p:ext uri="{D42A27DB-BD31-4B8C-83A1-F6EECF244321}">
                <p14:modId xmlns:p14="http://schemas.microsoft.com/office/powerpoint/2010/main" val="1868805721"/>
              </p:ext>
            </p:extLst>
          </p:nvPr>
        </p:nvGraphicFramePr>
        <p:xfrm>
          <a:off x="0" y="486092"/>
          <a:ext cx="12192000" cy="6371908"/>
        </p:xfrm>
        <a:graphic>
          <a:graphicData uri="http://schemas.openxmlformats.org/drawingml/2006/table">
            <a:tbl>
              <a:tblPr firstRow="1" firstCol="1" bandRow="1">
                <a:tableStyleId>{22838BEF-8BB2-4498-84A7-C5851F593DF1}</a:tableStyleId>
              </a:tblPr>
              <a:tblGrid>
                <a:gridCol w="1237561">
                  <a:extLst>
                    <a:ext uri="{9D8B030D-6E8A-4147-A177-3AD203B41FA5}">
                      <a16:colId xmlns:a16="http://schemas.microsoft.com/office/drawing/2014/main" val="3867415840"/>
                    </a:ext>
                  </a:extLst>
                </a:gridCol>
                <a:gridCol w="5254679">
                  <a:extLst>
                    <a:ext uri="{9D8B030D-6E8A-4147-A177-3AD203B41FA5}">
                      <a16:colId xmlns:a16="http://schemas.microsoft.com/office/drawing/2014/main" val="2329674036"/>
                    </a:ext>
                  </a:extLst>
                </a:gridCol>
                <a:gridCol w="2651760">
                  <a:extLst>
                    <a:ext uri="{9D8B030D-6E8A-4147-A177-3AD203B41FA5}">
                      <a16:colId xmlns:a16="http://schemas.microsoft.com/office/drawing/2014/main" val="77315634"/>
                    </a:ext>
                  </a:extLst>
                </a:gridCol>
                <a:gridCol w="3048000">
                  <a:extLst>
                    <a:ext uri="{9D8B030D-6E8A-4147-A177-3AD203B41FA5}">
                      <a16:colId xmlns:a16="http://schemas.microsoft.com/office/drawing/2014/main" val="3260003017"/>
                    </a:ext>
                  </a:extLst>
                </a:gridCol>
              </a:tblGrid>
              <a:tr h="503511">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5868397">
                <a:tc>
                  <a:txBody>
                    <a:bodyPr/>
                    <a:lstStyle/>
                    <a:p>
                      <a:pPr algn="ctr">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Stage III – Stakeholder Mapping</a:t>
                      </a:r>
                      <a:endParaRPr lang="en-IN" sz="1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ctr">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Questionnaire / Survey</a:t>
                      </a:r>
                      <a:r>
                        <a:rPr lang="en-IN" sz="1600" kern="0" dirty="0">
                          <a:effectLst/>
                          <a:latin typeface="Cambria" panose="02040503050406030204" pitchFamily="18" charset="0"/>
                          <a:ea typeface="Cambria" panose="02040503050406030204" pitchFamily="18" charset="0"/>
                          <a:cs typeface="Mangal" panose="02040503050203030202" pitchFamily="18" charset="0"/>
                        </a:rPr>
                        <a:t> </a:t>
                      </a:r>
                    </a:p>
                    <a:p>
                      <a:pPr marL="400050" indent="-400050" algn="ctr">
                        <a:lnSpc>
                          <a:spcPct val="107000"/>
                        </a:lnSpc>
                        <a:spcAft>
                          <a:spcPts val="800"/>
                        </a:spcAft>
                        <a:buAutoNum type="romanLcPeriod"/>
                      </a:pPr>
                      <a:r>
                        <a:rPr lang="en-IN" sz="1600" b="1" kern="0" dirty="0">
                          <a:effectLst/>
                          <a:latin typeface="Cambria" panose="02040503050406030204" pitchFamily="18" charset="0"/>
                          <a:ea typeface="Cambria" panose="02040503050406030204" pitchFamily="18" charset="0"/>
                          <a:cs typeface="Mangal" panose="02040503050203030202" pitchFamily="18" charset="0"/>
                        </a:rPr>
                        <a:t>For Financial Institutions (Banks &amp; Digital Payment Platforms)</a:t>
                      </a:r>
                      <a:r>
                        <a:rPr lang="en-IN" sz="1600" kern="0" dirty="0">
                          <a:effectLst/>
                          <a:latin typeface="Cambria" panose="02040503050406030204" pitchFamily="18" charset="0"/>
                          <a:ea typeface="Cambria" panose="02040503050406030204" pitchFamily="18" charset="0"/>
                          <a:cs typeface="Mangal" panose="02040503050203030202" pitchFamily="18" charset="0"/>
                        </a:rPr>
                        <a:t> – Questions related to economic losses from cyber attacks, cost of cybersecurity infrastructure, and risks to financial stability. </a:t>
                      </a:r>
                    </a:p>
                    <a:p>
                      <a:pPr marL="400050" indent="-400050" algn="ctr">
                        <a:lnSpc>
                          <a:spcPct val="107000"/>
                        </a:lnSpc>
                        <a:spcAft>
                          <a:spcPts val="800"/>
                        </a:spcAft>
                        <a:buAutoNum type="romanLcPeriod"/>
                      </a:pPr>
                      <a:r>
                        <a:rPr lang="en-IN" sz="1600" b="1" kern="0" dirty="0">
                          <a:effectLst/>
                          <a:latin typeface="Cambria" panose="02040503050406030204" pitchFamily="18" charset="0"/>
                          <a:ea typeface="Cambria" panose="02040503050406030204" pitchFamily="18" charset="0"/>
                          <a:cs typeface="Mangal" panose="02040503050203030202" pitchFamily="18" charset="0"/>
                        </a:rPr>
                        <a:t>For Businesses &amp; E-commerce Platforms</a:t>
                      </a:r>
                      <a:r>
                        <a:rPr lang="en-IN" sz="1600" kern="0" dirty="0">
                          <a:effectLst/>
                          <a:latin typeface="Cambria" panose="02040503050406030204" pitchFamily="18" charset="0"/>
                          <a:ea typeface="Cambria" panose="02040503050406030204" pitchFamily="18" charset="0"/>
                          <a:cs typeface="Mangal" panose="02040503050203030202" pitchFamily="18" charset="0"/>
                        </a:rPr>
                        <a:t> – Questions about disruptions in digital transactions, loss of customer trust, and financial damages due to cyber attacks. </a:t>
                      </a:r>
                    </a:p>
                    <a:p>
                      <a:pPr marL="400050" indent="-400050" algn="ctr">
                        <a:lnSpc>
                          <a:spcPct val="107000"/>
                        </a:lnSpc>
                        <a:spcAft>
                          <a:spcPts val="800"/>
                        </a:spcAft>
                        <a:buAutoNum type="romanLcPeriod"/>
                      </a:pPr>
                      <a:r>
                        <a:rPr lang="en-IN" sz="1600" b="1" kern="0" dirty="0">
                          <a:effectLst/>
                          <a:latin typeface="Cambria" panose="02040503050406030204" pitchFamily="18" charset="0"/>
                          <a:ea typeface="Cambria" panose="02040503050406030204" pitchFamily="18" charset="0"/>
                          <a:cs typeface="Mangal" panose="02040503050203030202" pitchFamily="18" charset="0"/>
                        </a:rPr>
                        <a:t>For Government / Cybersecurity Agencies</a:t>
                      </a:r>
                      <a:r>
                        <a:rPr lang="en-IN" sz="1600" kern="0" dirty="0">
                          <a:effectLst/>
                          <a:latin typeface="Cambria" panose="02040503050406030204" pitchFamily="18" charset="0"/>
                          <a:ea typeface="Cambria" panose="02040503050406030204" pitchFamily="18" charset="0"/>
                          <a:cs typeface="Mangal" panose="02040503050203030202" pitchFamily="18" charset="0"/>
                        </a:rPr>
                        <a:t> – Questions about national cybersecurity policies, economic protection measures, and strategies to reduce cyber warfare risks. </a:t>
                      </a:r>
                    </a:p>
                    <a:p>
                      <a:pPr marL="400050" indent="-400050" algn="ctr">
                        <a:lnSpc>
                          <a:spcPct val="107000"/>
                        </a:lnSpc>
                        <a:spcAft>
                          <a:spcPts val="800"/>
                        </a:spcAft>
                        <a:buAutoNum type="romanLcPeriod"/>
                      </a:pPr>
                      <a:r>
                        <a:rPr lang="en-IN" sz="1600" b="1" kern="0" dirty="0">
                          <a:effectLst/>
                          <a:latin typeface="Cambria" panose="02040503050406030204" pitchFamily="18" charset="0"/>
                          <a:ea typeface="Cambria" panose="02040503050406030204" pitchFamily="18" charset="0"/>
                          <a:cs typeface="Mangal" panose="02040503050203030202" pitchFamily="18" charset="0"/>
                        </a:rPr>
                        <a:t>For Citizens / Digital Users</a:t>
                      </a:r>
                      <a:r>
                        <a:rPr lang="en-IN" sz="1600" kern="0" dirty="0">
                          <a:effectLst/>
                          <a:latin typeface="Cambria" panose="02040503050406030204" pitchFamily="18" charset="0"/>
                          <a:ea typeface="Cambria" panose="02040503050406030204" pitchFamily="18" charset="0"/>
                          <a:cs typeface="Mangal" panose="02040503050203030202" pitchFamily="18" charset="0"/>
                        </a:rPr>
                        <a:t> – Questions about awareness of cyber threats, financial fraud experiences, and trust in digital financial systems. </a:t>
                      </a:r>
                    </a:p>
                    <a:p>
                      <a:pPr marL="400050" indent="-400050" algn="ctr">
                        <a:lnSpc>
                          <a:spcPct val="107000"/>
                        </a:lnSpc>
                        <a:spcAft>
                          <a:spcPts val="800"/>
                        </a:spcAft>
                        <a:buAutoNum type="romanLcPeriod"/>
                      </a:pPr>
                      <a:r>
                        <a:rPr lang="en-IN" sz="1600" b="1" kern="0" dirty="0">
                          <a:effectLst/>
                          <a:latin typeface="Cambria" panose="02040503050406030204" pitchFamily="18" charset="0"/>
                          <a:ea typeface="Cambria" panose="02040503050406030204" pitchFamily="18" charset="0"/>
                          <a:cs typeface="Mangal" panose="02040503050203030202" pitchFamily="18" charset="0"/>
                        </a:rPr>
                        <a:t>Data Collection Tools:</a:t>
                      </a:r>
                      <a:r>
                        <a:rPr lang="en-IN" sz="1600" kern="0" dirty="0">
                          <a:effectLst/>
                          <a:latin typeface="Cambria" panose="02040503050406030204" pitchFamily="18" charset="0"/>
                          <a:ea typeface="Cambria" panose="02040503050406030204" pitchFamily="18" charset="0"/>
                          <a:cs typeface="Mangal" panose="02040503050203030202" pitchFamily="18" charset="0"/>
                        </a:rPr>
                        <a:t> • Google Forms / Microsoft Forms – for conducting surveys. • Tableau / Microsoft Excel – for analysing and visualizing collected data.</a:t>
                      </a:r>
                      <a:endParaRPr lang="en-IN" sz="1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ctr">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Requirement Specification from Stakeholder Mapping</a:t>
                      </a:r>
                      <a:r>
                        <a:rPr lang="en-IN" sz="1600" kern="0" dirty="0">
                          <a:effectLst/>
                          <a:latin typeface="Cambria" panose="02040503050406030204" pitchFamily="18" charset="0"/>
                          <a:ea typeface="Cambria" panose="02040503050406030204" pitchFamily="18" charset="0"/>
                          <a:cs typeface="Mangal" panose="02040503050203030202" pitchFamily="18" charset="0"/>
                        </a:rPr>
                        <a:t> • Identification of economic challenges caused by cyber warfare. • Understanding stakeholder concerns regarding financial losses, data security, and digital infrastructure vulnerabilities. • Collection of real-world insights on the economic risks of cyber attacks. </a:t>
                      </a:r>
                    </a:p>
                    <a:p>
                      <a:pPr algn="ctr">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Data Added:</a:t>
                      </a:r>
                      <a:r>
                        <a:rPr lang="en-IN" sz="1600" kern="0" dirty="0">
                          <a:effectLst/>
                          <a:latin typeface="Cambria" panose="02040503050406030204" pitchFamily="18" charset="0"/>
                          <a:ea typeface="Cambria" panose="02040503050406030204" pitchFamily="18" charset="0"/>
                          <a:cs typeface="Mangal" panose="02040503050203030202" pitchFamily="18" charset="0"/>
                        </a:rPr>
                        <a:t> Survey responses, stakeholder feedback and secondary data on cyber attack impacts on economic systems.</a:t>
                      </a:r>
                      <a:endParaRPr lang="en-IN" sz="1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ctr">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(4)</a:t>
                      </a:r>
                      <a:r>
                        <a:rPr lang="en-IN" sz="1600" kern="0" dirty="0">
                          <a:effectLst/>
                          <a:latin typeface="Cambria" panose="02040503050406030204" pitchFamily="18" charset="0"/>
                          <a:ea typeface="Cambria" panose="02040503050406030204" pitchFamily="18" charset="0"/>
                          <a:cs typeface="Mangal" panose="02040503050203030202" pitchFamily="18" charset="0"/>
                        </a:rPr>
                        <a:t> Stakeholder requirements clearly identified with detailed data and insights. </a:t>
                      </a:r>
                    </a:p>
                    <a:p>
                      <a:pPr algn="ctr">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(3)</a:t>
                      </a:r>
                      <a:r>
                        <a:rPr lang="en-IN" sz="1600" kern="0" dirty="0">
                          <a:effectLst/>
                          <a:latin typeface="Cambria" panose="02040503050406030204" pitchFamily="18" charset="0"/>
                          <a:ea typeface="Cambria" panose="02040503050406030204" pitchFamily="18" charset="0"/>
                          <a:cs typeface="Mangal" panose="02040503050203030202" pitchFamily="18" charset="0"/>
                        </a:rPr>
                        <a:t> Stakeholder requirements identified with moderate insights and supporting data. </a:t>
                      </a:r>
                    </a:p>
                    <a:p>
                      <a:pPr algn="ctr">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(2)</a:t>
                      </a:r>
                      <a:r>
                        <a:rPr lang="en-IN" sz="1600" kern="0" dirty="0">
                          <a:effectLst/>
                          <a:latin typeface="Cambria" panose="02040503050406030204" pitchFamily="18" charset="0"/>
                          <a:ea typeface="Cambria" panose="02040503050406030204" pitchFamily="18" charset="0"/>
                          <a:cs typeface="Mangal" panose="02040503050203030202" pitchFamily="18" charset="0"/>
                        </a:rPr>
                        <a:t> Stakeholder needs partially identified with limited data support. </a:t>
                      </a:r>
                    </a:p>
                    <a:p>
                      <a:pPr algn="ctr">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(1)</a:t>
                      </a:r>
                      <a:r>
                        <a:rPr lang="en-IN" sz="1600" kern="0" dirty="0">
                          <a:effectLst/>
                          <a:latin typeface="Cambria" panose="02040503050406030204" pitchFamily="18" charset="0"/>
                          <a:ea typeface="Cambria" panose="02040503050406030204" pitchFamily="18" charset="0"/>
                          <a:cs typeface="Mangal" panose="02040503050203030202" pitchFamily="18" charset="0"/>
                        </a:rPr>
                        <a:t> Stakeholder needs vaguely identified with insufficient data.</a:t>
                      </a:r>
                      <a:endParaRPr lang="en-IN" sz="1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331700672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A4654947-D4DC-7D3E-0AC3-9B5FEA031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7FC34-D826-4608-5872-F9EDF7642363}"/>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3 – define:</a:t>
            </a:r>
          </a:p>
        </p:txBody>
      </p:sp>
      <p:graphicFrame>
        <p:nvGraphicFramePr>
          <p:cNvPr id="7" name="Table 6">
            <a:extLst>
              <a:ext uri="{FF2B5EF4-FFF2-40B4-BE49-F238E27FC236}">
                <a16:creationId xmlns:a16="http://schemas.microsoft.com/office/drawing/2014/main" id="{B25858BF-75C8-E043-819B-40273227553E}"/>
              </a:ext>
            </a:extLst>
          </p:cNvPr>
          <p:cNvGraphicFramePr>
            <a:graphicFrameLocks noGrp="1"/>
          </p:cNvGraphicFramePr>
          <p:nvPr>
            <p:extLst>
              <p:ext uri="{D42A27DB-BD31-4B8C-83A1-F6EECF244321}">
                <p14:modId xmlns:p14="http://schemas.microsoft.com/office/powerpoint/2010/main" val="2972481259"/>
              </p:ext>
            </p:extLst>
          </p:nvPr>
        </p:nvGraphicFramePr>
        <p:xfrm>
          <a:off x="0" y="486092"/>
          <a:ext cx="12192000" cy="6436297"/>
        </p:xfrm>
        <a:graphic>
          <a:graphicData uri="http://schemas.openxmlformats.org/drawingml/2006/table">
            <a:tbl>
              <a:tblPr firstRow="1" firstCol="1" bandRow="1">
                <a:tableStyleId>{22838BEF-8BB2-4498-84A7-C5851F593DF1}</a:tableStyleId>
              </a:tblPr>
              <a:tblGrid>
                <a:gridCol w="1237561">
                  <a:extLst>
                    <a:ext uri="{9D8B030D-6E8A-4147-A177-3AD203B41FA5}">
                      <a16:colId xmlns:a16="http://schemas.microsoft.com/office/drawing/2014/main" val="3867415840"/>
                    </a:ext>
                  </a:extLst>
                </a:gridCol>
                <a:gridCol w="5254679">
                  <a:extLst>
                    <a:ext uri="{9D8B030D-6E8A-4147-A177-3AD203B41FA5}">
                      <a16:colId xmlns:a16="http://schemas.microsoft.com/office/drawing/2014/main" val="2329674036"/>
                    </a:ext>
                  </a:extLst>
                </a:gridCol>
                <a:gridCol w="2651760">
                  <a:extLst>
                    <a:ext uri="{9D8B030D-6E8A-4147-A177-3AD203B41FA5}">
                      <a16:colId xmlns:a16="http://schemas.microsoft.com/office/drawing/2014/main" val="77315634"/>
                    </a:ext>
                  </a:extLst>
                </a:gridCol>
                <a:gridCol w="30480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gn="ctr">
                        <a:lnSpc>
                          <a:spcPct val="107000"/>
                        </a:lnSpc>
                        <a:spcAft>
                          <a:spcPts val="800"/>
                        </a:spcAft>
                        <a:buNone/>
                      </a:pPr>
                      <a:r>
                        <a:rPr lang="en-IN" sz="2000" b="1" kern="0">
                          <a:effectLst/>
                          <a:latin typeface="Cambria" panose="02040503050406030204" pitchFamily="18" charset="0"/>
                          <a:ea typeface="Cambria" panose="02040503050406030204" pitchFamily="18" charset="0"/>
                          <a:cs typeface="Mangal" panose="02040503050203030202" pitchFamily="18" charset="0"/>
                        </a:rPr>
                        <a:t>Stage IV – Idea Layout</a:t>
                      </a:r>
                      <a:endParaRPr lang="en-IN" sz="18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ctr">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Idea Clustering</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p>
                      <a:pPr algn="ct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Students organise insights gathered from the empathize stage using sticky notes to identify key economic issues related to cyber warfare. </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p>
                      <a:pPr algn="ctr">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Activities:</a:t>
                      </a:r>
                      <a:r>
                        <a:rPr lang="en-IN" sz="2000" kern="0" dirty="0">
                          <a:effectLst/>
                          <a:latin typeface="Cambria" panose="02040503050406030204" pitchFamily="18" charset="0"/>
                          <a:ea typeface="Cambria" panose="02040503050406030204" pitchFamily="18" charset="0"/>
                          <a:cs typeface="Mangal" panose="02040503050203030202" pitchFamily="18" charset="0"/>
                        </a:rPr>
                        <a:t> • Listing major economic problems caused by cyber warfare (financial losses, disruption of digital payments, data breaches, decline in investor confidence). </a:t>
                      </a:r>
                    </a:p>
                    <a:p>
                      <a:pPr algn="ct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Grouping similar insights to identify </a:t>
                      </a:r>
                      <a:r>
                        <a:rPr lang="en-IN" sz="2000" b="1" kern="0" dirty="0">
                          <a:effectLst/>
                          <a:latin typeface="Cambria" panose="02040503050406030204" pitchFamily="18" charset="0"/>
                          <a:ea typeface="Cambria" panose="02040503050406030204" pitchFamily="18" charset="0"/>
                          <a:cs typeface="Mangal" panose="02040503050203030202" pitchFamily="18" charset="0"/>
                        </a:rPr>
                        <a:t>key problem areas</a:t>
                      </a:r>
                      <a:r>
                        <a:rPr lang="en-IN" sz="2000" kern="0" dirty="0">
                          <a:effectLst/>
                          <a:latin typeface="Cambria" panose="02040503050406030204" pitchFamily="18" charset="0"/>
                          <a:ea typeface="Cambria" panose="02040503050406030204" pitchFamily="18" charset="0"/>
                          <a:cs typeface="Mangal" panose="02040503050203030202" pitchFamily="18" charset="0"/>
                        </a:rPr>
                        <a:t> such as financial system vulnerability, lack of cybersecurity awareness, and policy gaps. </a:t>
                      </a:r>
                    </a:p>
                    <a:p>
                      <a:pPr algn="ct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Prioritising the most critical economic challenges that require solutions. </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p>
                      <a:pPr algn="ctr">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Digital / AI Tools:</a:t>
                      </a:r>
                      <a:r>
                        <a:rPr lang="en-IN" sz="2000" kern="0" dirty="0">
                          <a:effectLst/>
                          <a:latin typeface="Cambria" panose="02040503050406030204" pitchFamily="18" charset="0"/>
                          <a:ea typeface="Cambria" panose="02040503050406030204" pitchFamily="18" charset="0"/>
                          <a:cs typeface="Mangal" panose="02040503050203030202" pitchFamily="18" charset="0"/>
                        </a:rPr>
                        <a:t> • Miro / </a:t>
                      </a:r>
                      <a:r>
                        <a:rPr lang="en-IN" sz="2000" kern="0" dirty="0" err="1">
                          <a:effectLst/>
                          <a:latin typeface="Cambria" panose="02040503050406030204" pitchFamily="18" charset="0"/>
                          <a:ea typeface="Cambria" panose="02040503050406030204" pitchFamily="18" charset="0"/>
                          <a:cs typeface="Mangal" panose="02040503050203030202" pitchFamily="18" charset="0"/>
                        </a:rPr>
                        <a:t>FigJam</a:t>
                      </a:r>
                      <a:r>
                        <a:rPr lang="en-IN" sz="2000" kern="0" dirty="0">
                          <a:effectLst/>
                          <a:latin typeface="Cambria" panose="02040503050406030204" pitchFamily="18" charset="0"/>
                          <a:ea typeface="Cambria" panose="02040503050406030204" pitchFamily="18" charset="0"/>
                          <a:cs typeface="Mangal" panose="02040503050203030202" pitchFamily="18" charset="0"/>
                        </a:rPr>
                        <a:t> – for virtual sticky notes and idea clustering.</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ctr">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Overview of Key Insights:</a:t>
                      </a:r>
                      <a:r>
                        <a:rPr lang="en-IN" sz="2000" kern="0" dirty="0">
                          <a:effectLst/>
                          <a:latin typeface="Cambria" panose="02040503050406030204" pitchFamily="18" charset="0"/>
                          <a:ea typeface="Cambria" panose="02040503050406030204" pitchFamily="18" charset="0"/>
                          <a:cs typeface="Mangal" panose="02040503050203030202" pitchFamily="18" charset="0"/>
                        </a:rPr>
                        <a:t> • Clear identification of the </a:t>
                      </a:r>
                      <a:r>
                        <a:rPr lang="en-IN" sz="2000" b="1" kern="0" dirty="0">
                          <a:effectLst/>
                          <a:latin typeface="Cambria" panose="02040503050406030204" pitchFamily="18" charset="0"/>
                          <a:ea typeface="Cambria" panose="02040503050406030204" pitchFamily="18" charset="0"/>
                          <a:cs typeface="Mangal" panose="02040503050203030202" pitchFamily="18" charset="0"/>
                        </a:rPr>
                        <a:t>core economic problem</a:t>
                      </a:r>
                      <a:r>
                        <a:rPr lang="en-IN" sz="2000" kern="0" dirty="0">
                          <a:effectLst/>
                          <a:latin typeface="Cambria" panose="02040503050406030204" pitchFamily="18" charset="0"/>
                          <a:ea typeface="Cambria" panose="02040503050406030204" pitchFamily="18" charset="0"/>
                          <a:cs typeface="Mangal" panose="02040503050203030202" pitchFamily="18" charset="0"/>
                        </a:rPr>
                        <a:t> related to cyber warfare. </a:t>
                      </a:r>
                    </a:p>
                    <a:p>
                      <a:pPr algn="ct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Understanding the relationship between cyber attacks and economic consequences such as financial losses, business disruption, and national economic risk. • Development of a </a:t>
                      </a:r>
                      <a:r>
                        <a:rPr lang="en-IN" sz="2000" b="1" kern="0" dirty="0">
                          <a:effectLst/>
                          <a:latin typeface="Cambria" panose="02040503050406030204" pitchFamily="18" charset="0"/>
                          <a:ea typeface="Cambria" panose="02040503050406030204" pitchFamily="18" charset="0"/>
                          <a:cs typeface="Mangal" panose="02040503050203030202" pitchFamily="18" charset="0"/>
                        </a:rPr>
                        <a:t>refined problem statement</a:t>
                      </a:r>
                      <a:r>
                        <a:rPr lang="en-IN" sz="2000" kern="0" dirty="0">
                          <a:effectLst/>
                          <a:latin typeface="Cambria" panose="02040503050406030204" pitchFamily="18" charset="0"/>
                          <a:ea typeface="Cambria" panose="02040503050406030204" pitchFamily="18" charset="0"/>
                          <a:cs typeface="Mangal" panose="02040503050203030202" pitchFamily="18" charset="0"/>
                        </a:rPr>
                        <a:t> that will guide the ideation stage of the project.</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ct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Evaluation based on clarity of identified problems, logical grouping of insights, and relevance of the refined economic problem statement.</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26822898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6068E2E9-F84F-CF78-4506-61438870C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7E605-F4D7-9907-8214-5AA409C321BE}"/>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4 – ideate:</a:t>
            </a:r>
          </a:p>
        </p:txBody>
      </p:sp>
      <p:graphicFrame>
        <p:nvGraphicFramePr>
          <p:cNvPr id="7" name="Table 6">
            <a:extLst>
              <a:ext uri="{FF2B5EF4-FFF2-40B4-BE49-F238E27FC236}">
                <a16:creationId xmlns:a16="http://schemas.microsoft.com/office/drawing/2014/main" id="{3CC6B09C-7A22-B9C1-E315-39C52BACAD87}"/>
              </a:ext>
            </a:extLst>
          </p:cNvPr>
          <p:cNvGraphicFramePr>
            <a:graphicFrameLocks noGrp="1"/>
          </p:cNvGraphicFramePr>
          <p:nvPr>
            <p:extLst>
              <p:ext uri="{D42A27DB-BD31-4B8C-83A1-F6EECF244321}">
                <p14:modId xmlns:p14="http://schemas.microsoft.com/office/powerpoint/2010/main" val="3742827673"/>
              </p:ext>
            </p:extLst>
          </p:nvPr>
        </p:nvGraphicFramePr>
        <p:xfrm>
          <a:off x="0" y="672783"/>
          <a:ext cx="12192000" cy="6012625"/>
        </p:xfrm>
        <a:graphic>
          <a:graphicData uri="http://schemas.openxmlformats.org/drawingml/2006/table">
            <a:tbl>
              <a:tblPr firstRow="1" firstCol="1" bandRow="1">
                <a:tableStyleId>{22838BEF-8BB2-4498-84A7-C5851F593DF1}</a:tableStyleId>
              </a:tblPr>
              <a:tblGrid>
                <a:gridCol w="1237561">
                  <a:extLst>
                    <a:ext uri="{9D8B030D-6E8A-4147-A177-3AD203B41FA5}">
                      <a16:colId xmlns:a16="http://schemas.microsoft.com/office/drawing/2014/main" val="3867415840"/>
                    </a:ext>
                  </a:extLst>
                </a:gridCol>
                <a:gridCol w="5254679">
                  <a:extLst>
                    <a:ext uri="{9D8B030D-6E8A-4147-A177-3AD203B41FA5}">
                      <a16:colId xmlns:a16="http://schemas.microsoft.com/office/drawing/2014/main" val="2329674036"/>
                    </a:ext>
                  </a:extLst>
                </a:gridCol>
                <a:gridCol w="2651760">
                  <a:extLst>
                    <a:ext uri="{9D8B030D-6E8A-4147-A177-3AD203B41FA5}">
                      <a16:colId xmlns:a16="http://schemas.microsoft.com/office/drawing/2014/main" val="77315634"/>
                    </a:ext>
                  </a:extLst>
                </a:gridCol>
                <a:gridCol w="30480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nSpc>
                          <a:spcPct val="107000"/>
                        </a:lnSpc>
                        <a:spcAft>
                          <a:spcPts val="0"/>
                        </a:spcAft>
                        <a:buNone/>
                      </a:pPr>
                      <a:r>
                        <a:rPr lang="en-IN" sz="1800" b="1" kern="0" dirty="0">
                          <a:effectLst/>
                          <a:latin typeface="Cambria" panose="02040503050406030204" pitchFamily="18" charset="0"/>
                          <a:ea typeface="Cambria" panose="02040503050406030204" pitchFamily="18" charset="0"/>
                          <a:cs typeface="Mangal" panose="02040503050203030202" pitchFamily="18" charset="0"/>
                        </a:rPr>
                        <a:t>Stage V – Reflection / Idea Evaluation</a:t>
                      </a:r>
                      <a:endParaRPr lang="en-IN" sz="16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0"/>
                        </a:spcAft>
                        <a:buNone/>
                      </a:pPr>
                      <a:r>
                        <a:rPr lang="en-IN" sz="1800" b="1" kern="0" dirty="0">
                          <a:effectLst/>
                          <a:latin typeface="Cambria" panose="02040503050406030204" pitchFamily="18" charset="0"/>
                          <a:ea typeface="Cambria" panose="02040503050406030204" pitchFamily="18" charset="0"/>
                          <a:cs typeface="Mangal" panose="02040503050203030202" pitchFamily="18" charset="0"/>
                        </a:rPr>
                        <a:t>Checklist for Solution Identification</a:t>
                      </a:r>
                      <a:r>
                        <a:rPr lang="en-IN" sz="1800" kern="0" dirty="0">
                          <a:effectLst/>
                          <a:latin typeface="Cambria" panose="02040503050406030204" pitchFamily="18" charset="0"/>
                          <a:ea typeface="Cambria" panose="02040503050406030204" pitchFamily="18" charset="0"/>
                          <a:cs typeface="Mangal" panose="02040503050203030202" pitchFamily="18" charset="0"/>
                        </a:rPr>
                        <a:t> Students review insights from previous stages and prepare a checklist to identify feasible solutions to reduce the economic impact of cyber warfare. </a:t>
                      </a:r>
                    </a:p>
                    <a:p>
                      <a:pPr>
                        <a:lnSpc>
                          <a:spcPct val="107000"/>
                        </a:lnSpc>
                        <a:spcAft>
                          <a:spcPts val="0"/>
                        </a:spcAft>
                        <a:buNone/>
                      </a:pPr>
                      <a:r>
                        <a:rPr lang="en-IN" sz="1800" b="1" kern="0" dirty="0">
                          <a:effectLst/>
                          <a:latin typeface="Cambria" panose="02040503050406030204" pitchFamily="18" charset="0"/>
                          <a:ea typeface="Cambria" panose="02040503050406030204" pitchFamily="18" charset="0"/>
                          <a:cs typeface="Mangal" panose="02040503050203030202" pitchFamily="18" charset="0"/>
                        </a:rPr>
                        <a:t>Checklist Parameters:</a:t>
                      </a:r>
                      <a:r>
                        <a:rPr lang="en-IN" sz="1800" kern="0" dirty="0">
                          <a:effectLst/>
                          <a:latin typeface="Cambria" panose="02040503050406030204" pitchFamily="18" charset="0"/>
                          <a:ea typeface="Cambria" panose="02040503050406030204" pitchFamily="18" charset="0"/>
                          <a:cs typeface="Mangal" panose="02040503050203030202" pitchFamily="18" charset="0"/>
                        </a:rPr>
                        <a:t> </a:t>
                      </a:r>
                    </a:p>
                    <a:p>
                      <a:pPr>
                        <a:lnSpc>
                          <a:spcPct val="107000"/>
                        </a:lnSpc>
                        <a:spcAft>
                          <a:spcPts val="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Can the solution reduce financial losses caused by cyber attacks? </a:t>
                      </a:r>
                    </a:p>
                    <a:p>
                      <a:pPr>
                        <a:lnSpc>
                          <a:spcPct val="107000"/>
                        </a:lnSpc>
                        <a:spcAft>
                          <a:spcPts val="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Does the solution strengthen cybersecurity in banking and digital payment systems? </a:t>
                      </a:r>
                    </a:p>
                    <a:p>
                      <a:pPr>
                        <a:lnSpc>
                          <a:spcPct val="107000"/>
                        </a:lnSpc>
                        <a:spcAft>
                          <a:spcPts val="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Is the solution economically feasible and scalable? </a:t>
                      </a:r>
                    </a:p>
                    <a:p>
                      <a:pPr>
                        <a:lnSpc>
                          <a:spcPct val="107000"/>
                        </a:lnSpc>
                        <a:spcAft>
                          <a:spcPts val="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Does it improve awareness and preparedness against cyber threats? </a:t>
                      </a:r>
                    </a:p>
                    <a:p>
                      <a:pPr>
                        <a:lnSpc>
                          <a:spcPct val="107000"/>
                        </a:lnSpc>
                        <a:spcAft>
                          <a:spcPts val="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Can the solution support government policies for cybersecurity and economic stability? </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p>
                      <a:pPr>
                        <a:lnSpc>
                          <a:spcPct val="107000"/>
                        </a:lnSpc>
                        <a:spcAft>
                          <a:spcPts val="0"/>
                        </a:spcAft>
                        <a:buNone/>
                      </a:pPr>
                      <a:r>
                        <a:rPr lang="en-IN" sz="1800" b="1" kern="0" dirty="0">
                          <a:effectLst/>
                          <a:latin typeface="Cambria" panose="02040503050406030204" pitchFamily="18" charset="0"/>
                          <a:ea typeface="Cambria" panose="02040503050406030204" pitchFamily="18" charset="0"/>
                          <a:cs typeface="Mangal" panose="02040503050203030202" pitchFamily="18" charset="0"/>
                        </a:rPr>
                        <a:t>AI &amp; Digital Tools:</a:t>
                      </a:r>
                      <a:r>
                        <a:rPr lang="en-IN" sz="1800" kern="0" dirty="0">
                          <a:effectLst/>
                          <a:latin typeface="Cambria" panose="02040503050406030204" pitchFamily="18" charset="0"/>
                          <a:ea typeface="Cambria" panose="02040503050406030204" pitchFamily="18" charset="0"/>
                          <a:cs typeface="Mangal" panose="02040503050203030202" pitchFamily="18" charset="0"/>
                        </a:rPr>
                        <a:t>  • Power BI – for analysing cyber attack data and economic impact. • Tableau – for visualizing patterns of cyber risks and financial losses.</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0"/>
                        </a:spcAft>
                        <a:buNone/>
                      </a:pPr>
                      <a:r>
                        <a:rPr lang="en-IN" sz="1700" b="1" kern="0" dirty="0">
                          <a:effectLst/>
                          <a:latin typeface="Cambria" panose="02040503050406030204" pitchFamily="18" charset="0"/>
                          <a:ea typeface="Cambria" panose="02040503050406030204" pitchFamily="18" charset="0"/>
                          <a:cs typeface="Mangal" panose="02040503050203030202" pitchFamily="18" charset="0"/>
                        </a:rPr>
                        <a:t>GAPS FIXING</a:t>
                      </a:r>
                      <a:r>
                        <a:rPr lang="en-IN" sz="1700" kern="0" dirty="0">
                          <a:effectLst/>
                          <a:latin typeface="Cambria" panose="02040503050406030204" pitchFamily="18" charset="0"/>
                          <a:ea typeface="Cambria" panose="02040503050406030204" pitchFamily="18" charset="0"/>
                          <a:cs typeface="Mangal" panose="02040503050203030202" pitchFamily="18" charset="0"/>
                        </a:rPr>
                        <a:t> The identified tools and strategies after checklist evaluation may include: • </a:t>
                      </a:r>
                      <a:r>
                        <a:rPr lang="en-IN" sz="1700" b="1" kern="0" dirty="0">
                          <a:effectLst/>
                          <a:latin typeface="Cambria" panose="02040503050406030204" pitchFamily="18" charset="0"/>
                          <a:ea typeface="Cambria" panose="02040503050406030204" pitchFamily="18" charset="0"/>
                          <a:cs typeface="Mangal" panose="02040503050203030202" pitchFamily="18" charset="0"/>
                        </a:rPr>
                        <a:t>AI-based Cyber Threat Detection Systems</a:t>
                      </a:r>
                      <a:r>
                        <a:rPr lang="en-IN" sz="1700" kern="0" dirty="0">
                          <a:effectLst/>
                          <a:latin typeface="Cambria" panose="02040503050406030204" pitchFamily="18" charset="0"/>
                          <a:ea typeface="Cambria" panose="02040503050406030204" pitchFamily="18" charset="0"/>
                          <a:cs typeface="Mangal" panose="02040503050203030202" pitchFamily="18" charset="0"/>
                        </a:rPr>
                        <a:t> for early identification of cyber attacks on financial institutions. • </a:t>
                      </a:r>
                      <a:r>
                        <a:rPr lang="en-IN" sz="1700" b="1" kern="0" dirty="0">
                          <a:effectLst/>
                          <a:latin typeface="Cambria" panose="02040503050406030204" pitchFamily="18" charset="0"/>
                          <a:ea typeface="Cambria" panose="02040503050406030204" pitchFamily="18" charset="0"/>
                          <a:cs typeface="Mangal" panose="02040503050203030202" pitchFamily="18" charset="0"/>
                        </a:rPr>
                        <a:t>Data Analytics Platforms</a:t>
                      </a:r>
                      <a:r>
                        <a:rPr lang="en-IN" sz="1700" kern="0" dirty="0">
                          <a:effectLst/>
                          <a:latin typeface="Cambria" panose="02040503050406030204" pitchFamily="18" charset="0"/>
                          <a:ea typeface="Cambria" panose="02040503050406030204" pitchFamily="18" charset="0"/>
                          <a:cs typeface="Mangal" panose="02040503050203030202" pitchFamily="18" charset="0"/>
                        </a:rPr>
                        <a:t> such as Power BI for analysing economic losses and risk patterns. • </a:t>
                      </a:r>
                      <a:r>
                        <a:rPr lang="en-IN" sz="1700" b="1" kern="0" dirty="0">
                          <a:effectLst/>
                          <a:latin typeface="Cambria" panose="02040503050406030204" pitchFamily="18" charset="0"/>
                          <a:ea typeface="Cambria" panose="02040503050406030204" pitchFamily="18" charset="0"/>
                          <a:cs typeface="Mangal" panose="02040503050203030202" pitchFamily="18" charset="0"/>
                        </a:rPr>
                        <a:t>Cybersecurity Awareness Programs</a:t>
                      </a:r>
                      <a:r>
                        <a:rPr lang="en-IN" sz="1700" kern="0" dirty="0">
                          <a:effectLst/>
                          <a:latin typeface="Cambria" panose="02040503050406030204" pitchFamily="18" charset="0"/>
                          <a:ea typeface="Cambria" panose="02040503050406030204" pitchFamily="18" charset="0"/>
                          <a:cs typeface="Mangal" panose="02040503050203030202" pitchFamily="18" charset="0"/>
                        </a:rPr>
                        <a:t> for businesses and digital users. • </a:t>
                      </a:r>
                      <a:r>
                        <a:rPr lang="en-IN" sz="1700" b="1" kern="0" dirty="0">
                          <a:effectLst/>
                          <a:latin typeface="Cambria" panose="02040503050406030204" pitchFamily="18" charset="0"/>
                          <a:ea typeface="Cambria" panose="02040503050406030204" pitchFamily="18" charset="0"/>
                          <a:cs typeface="Mangal" panose="02040503050203030202" pitchFamily="18" charset="0"/>
                        </a:rPr>
                        <a:t>Policy Recommendations</a:t>
                      </a:r>
                      <a:r>
                        <a:rPr lang="en-IN" sz="1700" kern="0" dirty="0">
                          <a:effectLst/>
                          <a:latin typeface="Cambria" panose="02040503050406030204" pitchFamily="18" charset="0"/>
                          <a:ea typeface="Cambria" panose="02040503050406030204" pitchFamily="18" charset="0"/>
                          <a:cs typeface="Mangal" panose="02040503050203030202" pitchFamily="18" charset="0"/>
                        </a:rPr>
                        <a:t> for strengthening national cybersecurity frameworks and protecting digital financial infrastructure.</a:t>
                      </a:r>
                      <a:endParaRPr lang="en-IN" sz="17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Evaluation based on clarity of proposed solutions, relevance to economic problems identified, feasibility of implementation, and ability to reduce the economic risks of cyber warfare.</a:t>
                      </a:r>
                      <a:endParaRPr lang="en-IN" sz="16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368120472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BDC8C4C1-AF84-38F9-482C-E533CB448056}"/>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8FAA5E39-BFD1-FF96-DB17-9A1E5A4D40F8}"/>
              </a:ext>
            </a:extLst>
          </p:cNvPr>
          <p:cNvGraphicFramePr>
            <a:graphicFrameLocks noGrp="1"/>
          </p:cNvGraphicFramePr>
          <p:nvPr>
            <p:extLst>
              <p:ext uri="{D42A27DB-BD31-4B8C-83A1-F6EECF244321}">
                <p14:modId xmlns:p14="http://schemas.microsoft.com/office/powerpoint/2010/main" val="720036084"/>
              </p:ext>
            </p:extLst>
          </p:nvPr>
        </p:nvGraphicFramePr>
        <p:xfrm>
          <a:off x="0" y="97280"/>
          <a:ext cx="12192000" cy="6760720"/>
        </p:xfrm>
        <a:graphic>
          <a:graphicData uri="http://schemas.openxmlformats.org/drawingml/2006/table">
            <a:tbl>
              <a:tblPr firstRow="1" firstCol="1" bandRow="1">
                <a:tableStyleId>{22838BEF-8BB2-4498-84A7-C5851F593DF1}</a:tableStyleId>
              </a:tblPr>
              <a:tblGrid>
                <a:gridCol w="1237561">
                  <a:extLst>
                    <a:ext uri="{9D8B030D-6E8A-4147-A177-3AD203B41FA5}">
                      <a16:colId xmlns:a16="http://schemas.microsoft.com/office/drawing/2014/main" val="3867415840"/>
                    </a:ext>
                  </a:extLst>
                </a:gridCol>
                <a:gridCol w="6064939">
                  <a:extLst>
                    <a:ext uri="{9D8B030D-6E8A-4147-A177-3AD203B41FA5}">
                      <a16:colId xmlns:a16="http://schemas.microsoft.com/office/drawing/2014/main" val="2329674036"/>
                    </a:ext>
                  </a:extLst>
                </a:gridCol>
                <a:gridCol w="2705100">
                  <a:extLst>
                    <a:ext uri="{9D8B030D-6E8A-4147-A177-3AD203B41FA5}">
                      <a16:colId xmlns:a16="http://schemas.microsoft.com/office/drawing/2014/main" val="77315634"/>
                    </a:ext>
                  </a:extLst>
                </a:gridCol>
                <a:gridCol w="2184400">
                  <a:extLst>
                    <a:ext uri="{9D8B030D-6E8A-4147-A177-3AD203B41FA5}">
                      <a16:colId xmlns:a16="http://schemas.microsoft.com/office/drawing/2014/main" val="3260003017"/>
                    </a:ext>
                  </a:extLst>
                </a:gridCol>
              </a:tblGrid>
              <a:tr h="680020">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5987480">
                <a:tc>
                  <a:txBody>
                    <a:bodyPr/>
                    <a:lstStyle/>
                    <a:p>
                      <a:pPr>
                        <a:lnSpc>
                          <a:spcPct val="107000"/>
                        </a:lnSpc>
                        <a:spcAft>
                          <a:spcPts val="0"/>
                        </a:spcAft>
                        <a:buNone/>
                      </a:pP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Stage VI – Resources Identification</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tc>
                <a:tc>
                  <a:txBody>
                    <a:bodyPr/>
                    <a:lstStyle/>
                    <a:p>
                      <a:pPr>
                        <a:lnSpc>
                          <a:spcPct val="107000"/>
                        </a:lnSpc>
                        <a:spcAft>
                          <a:spcPts val="0"/>
                        </a:spcAft>
                        <a:buNone/>
                      </a:pP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Requirements Specification</a:t>
                      </a: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a:t>
                      </a:r>
                    </a:p>
                    <a:p>
                      <a:pPr marL="342900" indent="-342900">
                        <a:lnSpc>
                          <a:spcPct val="107000"/>
                        </a:lnSpc>
                        <a:spcAft>
                          <a:spcPts val="0"/>
                        </a:spcAft>
                        <a:buAutoNum type="arabicPeriod"/>
                      </a:pP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Student Collaboration Resources</a:t>
                      </a: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 Formation of groups (4–5 students) to divide tasks such as research, analysis, documentation, and presentation. </a:t>
                      </a:r>
                    </a:p>
                    <a:p>
                      <a:pPr marL="342900" indent="-342900">
                        <a:lnSpc>
                          <a:spcPct val="107000"/>
                        </a:lnSpc>
                        <a:spcAft>
                          <a:spcPts val="0"/>
                        </a:spcAft>
                        <a:buAutoNum type="arabicPeriod"/>
                      </a:pP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Research Materials &amp; Data Sources</a:t>
                      </a: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 Government reports on cybersecurity and economic impact. • International organization reports (IMF, World Bank, UN). • Cybersecurity industry reports and cybercrime statistics. • Research papers, journals, and news articles related to cyber warfare incidents.</a:t>
                      </a:r>
                    </a:p>
                    <a:p>
                      <a:pPr marL="342900" indent="-342900">
                        <a:lnSpc>
                          <a:spcPct val="107000"/>
                        </a:lnSpc>
                        <a:spcAft>
                          <a:spcPts val="0"/>
                        </a:spcAft>
                        <a:buAutoNum type="arabicPeriod"/>
                      </a:pP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Case Study Resources</a:t>
                      </a: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 Documentation and analysis of at least one major cyber warfare incident affecting financial systems, businesses, or government networks. </a:t>
                      </a:r>
                    </a:p>
                    <a:p>
                      <a:pPr marL="342900" indent="-342900">
                        <a:lnSpc>
                          <a:spcPct val="107000"/>
                        </a:lnSpc>
                        <a:spcAft>
                          <a:spcPts val="0"/>
                        </a:spcAft>
                        <a:buAutoNum type="arabicPeriod"/>
                      </a:pP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Digital &amp; AI Research Tools</a:t>
                      </a: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 Google Scholar – academic literature and research papers. • Microsoft Excel – organising and analysing economic data. • Power BI – analysing cyber attack trends and economic losses. </a:t>
                      </a:r>
                    </a:p>
                    <a:p>
                      <a:pPr marL="342900" indent="-342900">
                        <a:lnSpc>
                          <a:spcPct val="107000"/>
                        </a:lnSpc>
                        <a:spcAft>
                          <a:spcPts val="0"/>
                        </a:spcAft>
                        <a:buAutoNum type="arabicPeriod"/>
                      </a:pP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Presentation &amp; Documentation Tools</a:t>
                      </a: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 Microsoft PowerPoint – presentation of findings. • Canva – posters, infographics, and visual representation of economic impact.</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tc>
                <a:tc>
                  <a:txBody>
                    <a:bodyPr/>
                    <a:lstStyle/>
                    <a:p>
                      <a:pPr>
                        <a:lnSpc>
                          <a:spcPct val="107000"/>
                        </a:lnSpc>
                        <a:spcAft>
                          <a:spcPts val="0"/>
                        </a:spcAft>
                        <a:buNone/>
                      </a:pP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Resources Identified for Project Execution</a:t>
                      </a: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 Formation of student teams and clear task distribution. • Identification of reliable data sources for analysing cyber warfare and economic impact. • Selection of case studies for detailed analysis. • Identification of appropriate digital tools for data analysis and visualization. </a:t>
                      </a:r>
                      <a:r>
                        <a:rPr lang="en-IN" sz="1800" b="1" kern="0" dirty="0">
                          <a:effectLst/>
                          <a:latin typeface="Times New Roman" panose="02020603050405020304" pitchFamily="18" charset="0"/>
                          <a:ea typeface="Times New Roman" panose="02020603050405020304" pitchFamily="18" charset="0"/>
                          <a:cs typeface="Mangal" panose="02040503050203030202" pitchFamily="18" charset="0"/>
                        </a:rPr>
                        <a:t>Output:</a:t>
                      </a: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 Availability of research materials, analytical tools, and presentation resources required to design and communicate innovative economic solutions for cyber warfare risks.</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tc>
                <a:tc>
                  <a:txBody>
                    <a:bodyPr/>
                    <a:lstStyle/>
                    <a:p>
                      <a:pPr>
                        <a:lnSpc>
                          <a:spcPct val="107000"/>
                        </a:lnSpc>
                        <a:spcAft>
                          <a:spcPts val="0"/>
                        </a:spcAft>
                        <a:buNone/>
                      </a:pPr>
                      <a:r>
                        <a:rPr lang="en-IN" sz="1800" kern="0" dirty="0">
                          <a:effectLst/>
                          <a:latin typeface="Times New Roman" panose="02020603050405020304" pitchFamily="18" charset="0"/>
                          <a:ea typeface="Times New Roman" panose="02020603050405020304" pitchFamily="18" charset="0"/>
                          <a:cs typeface="Mangal" panose="02040503050203030202" pitchFamily="18" charset="0"/>
                        </a:rPr>
                        <a:t>Evaluation based on: • Relevance and reliability of data sources identified. • Appropriate selection of case studies. • Effective use of digital tools for research and analysis. • Clear identification of resources required for successful project completion.</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70170564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D1E086D1-2E92-3B70-46C6-0560D58A3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C14E2-66A3-1FF2-8F7C-6FB6111A06AC}"/>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5 – prototype:</a:t>
            </a:r>
          </a:p>
        </p:txBody>
      </p:sp>
      <p:graphicFrame>
        <p:nvGraphicFramePr>
          <p:cNvPr id="7" name="Table 6">
            <a:extLst>
              <a:ext uri="{FF2B5EF4-FFF2-40B4-BE49-F238E27FC236}">
                <a16:creationId xmlns:a16="http://schemas.microsoft.com/office/drawing/2014/main" id="{B85A8E61-9A68-F3D9-5E11-2BB652117E92}"/>
              </a:ext>
            </a:extLst>
          </p:cNvPr>
          <p:cNvGraphicFramePr>
            <a:graphicFrameLocks noGrp="1"/>
          </p:cNvGraphicFramePr>
          <p:nvPr>
            <p:extLst>
              <p:ext uri="{D42A27DB-BD31-4B8C-83A1-F6EECF244321}">
                <p14:modId xmlns:p14="http://schemas.microsoft.com/office/powerpoint/2010/main" val="630518161"/>
              </p:ext>
            </p:extLst>
          </p:nvPr>
        </p:nvGraphicFramePr>
        <p:xfrm>
          <a:off x="0" y="672783"/>
          <a:ext cx="12192000" cy="5890642"/>
        </p:xfrm>
        <a:graphic>
          <a:graphicData uri="http://schemas.openxmlformats.org/drawingml/2006/table">
            <a:tbl>
              <a:tblPr firstRow="1" firstCol="1" bandRow="1">
                <a:tableStyleId>{22838BEF-8BB2-4498-84A7-C5851F593DF1}</a:tableStyleId>
              </a:tblPr>
              <a:tblGrid>
                <a:gridCol w="1237561">
                  <a:extLst>
                    <a:ext uri="{9D8B030D-6E8A-4147-A177-3AD203B41FA5}">
                      <a16:colId xmlns:a16="http://schemas.microsoft.com/office/drawing/2014/main" val="3867415840"/>
                    </a:ext>
                  </a:extLst>
                </a:gridCol>
                <a:gridCol w="5254679">
                  <a:extLst>
                    <a:ext uri="{9D8B030D-6E8A-4147-A177-3AD203B41FA5}">
                      <a16:colId xmlns:a16="http://schemas.microsoft.com/office/drawing/2014/main" val="2329674036"/>
                    </a:ext>
                  </a:extLst>
                </a:gridCol>
                <a:gridCol w="3566160">
                  <a:extLst>
                    <a:ext uri="{9D8B030D-6E8A-4147-A177-3AD203B41FA5}">
                      <a16:colId xmlns:a16="http://schemas.microsoft.com/office/drawing/2014/main" val="77315634"/>
                    </a:ext>
                  </a:extLst>
                </a:gridCol>
                <a:gridCol w="21336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a:t>
                      </a:r>
                    </a:p>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nSpc>
                          <a:spcPct val="107000"/>
                        </a:lnSpc>
                        <a:spcAft>
                          <a:spcPts val="800"/>
                        </a:spcAft>
                        <a:buNone/>
                      </a:pPr>
                      <a:r>
                        <a:rPr lang="en-IN" sz="2200" b="1" kern="0" dirty="0">
                          <a:effectLst/>
                          <a:latin typeface="Cambria" panose="02040503050406030204" pitchFamily="18" charset="0"/>
                          <a:ea typeface="Cambria" panose="02040503050406030204" pitchFamily="18" charset="0"/>
                          <a:cs typeface="Mangal" panose="02040503050203030202" pitchFamily="18" charset="0"/>
                        </a:rPr>
                        <a:t>Stage VII – Execution Framework</a:t>
                      </a:r>
                      <a:endParaRPr lang="en-IN" sz="22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r>
                        <a:rPr lang="en-IN" sz="2200" b="1" kern="0">
                          <a:effectLst/>
                          <a:latin typeface="Cambria" panose="02040503050406030204" pitchFamily="18" charset="0"/>
                          <a:ea typeface="Cambria" panose="02040503050406030204" pitchFamily="18" charset="0"/>
                          <a:cs typeface="Mangal" panose="02040503050203030202" pitchFamily="18" charset="0"/>
                        </a:rPr>
                        <a:t>Focused Modules</a:t>
                      </a:r>
                      <a:r>
                        <a:rPr lang="en-IN" sz="2200" kern="0">
                          <a:effectLst/>
                          <a:latin typeface="Cambria" panose="02040503050406030204" pitchFamily="18" charset="0"/>
                          <a:ea typeface="Cambria" panose="02040503050406030204" pitchFamily="18" charset="0"/>
                          <a:cs typeface="Mangal" panose="02040503050203030202" pitchFamily="18" charset="0"/>
                        </a:rPr>
                        <a:t> </a:t>
                      </a:r>
                      <a:r>
                        <a:rPr lang="en-IN" sz="2200" b="1" kern="0">
                          <a:effectLst/>
                          <a:latin typeface="Cambria" panose="02040503050406030204" pitchFamily="18" charset="0"/>
                          <a:ea typeface="Cambria" panose="02040503050406030204" pitchFamily="18" charset="0"/>
                          <a:cs typeface="Mangal" panose="02040503050203030202" pitchFamily="18" charset="0"/>
                        </a:rPr>
                        <a:t>Overall System:</a:t>
                      </a:r>
                      <a:r>
                        <a:rPr lang="en-IN" sz="2200" kern="0">
                          <a:effectLst/>
                          <a:latin typeface="Cambria" panose="02040503050406030204" pitchFamily="18" charset="0"/>
                          <a:ea typeface="Cambria" panose="02040503050406030204" pitchFamily="18" charset="0"/>
                          <a:cs typeface="Mangal" panose="02040503050203030202" pitchFamily="18" charset="0"/>
                        </a:rPr>
                        <a:t> </a:t>
                      </a:r>
                      <a:r>
                        <a:rPr lang="en-IN" sz="2200" i="1" kern="0">
                          <a:effectLst/>
                          <a:latin typeface="Cambria" panose="02040503050406030204" pitchFamily="18" charset="0"/>
                          <a:ea typeface="Cambria" panose="02040503050406030204" pitchFamily="18" charset="0"/>
                          <a:cs typeface="Mangal" panose="02040503050203030202" pitchFamily="18" charset="0"/>
                        </a:rPr>
                        <a:t>Cyber Warfare Economic Impact Analysis System</a:t>
                      </a:r>
                      <a:r>
                        <a:rPr lang="en-IN" sz="2200" kern="0">
                          <a:effectLst/>
                          <a:latin typeface="Cambria" panose="02040503050406030204" pitchFamily="18" charset="0"/>
                          <a:ea typeface="Cambria" panose="02040503050406030204" pitchFamily="18" charset="0"/>
                          <a:cs typeface="Mangal" panose="02040503050203030202" pitchFamily="18" charset="0"/>
                        </a:rPr>
                        <a:t> </a:t>
                      </a:r>
                      <a:r>
                        <a:rPr lang="en-IN" sz="2200" b="1" kern="0">
                          <a:effectLst/>
                          <a:latin typeface="Cambria" panose="02040503050406030204" pitchFamily="18" charset="0"/>
                          <a:ea typeface="Cambria" panose="02040503050406030204" pitchFamily="18" charset="0"/>
                          <a:cs typeface="Mangal" panose="02040503050203030202" pitchFamily="18" charset="0"/>
                        </a:rPr>
                        <a:t>Administrative Dashboard</a:t>
                      </a:r>
                      <a:r>
                        <a:rPr lang="en-IN" sz="2200" kern="0">
                          <a:effectLst/>
                          <a:latin typeface="Cambria" panose="02040503050406030204" pitchFamily="18" charset="0"/>
                          <a:ea typeface="Cambria" panose="02040503050406030204" pitchFamily="18" charset="0"/>
                          <a:cs typeface="Mangal" panose="02040503050203030202" pitchFamily="18" charset="0"/>
                        </a:rPr>
                        <a:t> • Visualization of </a:t>
                      </a:r>
                      <a:r>
                        <a:rPr lang="en-IN" sz="2200" b="1" kern="0">
                          <a:effectLst/>
                          <a:latin typeface="Cambria" panose="02040503050406030204" pitchFamily="18" charset="0"/>
                          <a:ea typeface="Cambria" panose="02040503050406030204" pitchFamily="18" charset="0"/>
                          <a:cs typeface="Mangal" panose="02040503050203030202" pitchFamily="18" charset="0"/>
                        </a:rPr>
                        <a:t>global cyber attack incidents affecting economic sectors</a:t>
                      </a:r>
                      <a:r>
                        <a:rPr lang="en-IN" sz="2200" kern="0">
                          <a:effectLst/>
                          <a:latin typeface="Cambria" panose="02040503050406030204" pitchFamily="18" charset="0"/>
                          <a:ea typeface="Cambria" panose="02040503050406030204" pitchFamily="18" charset="0"/>
                          <a:cs typeface="Mangal" panose="02040503050203030202" pitchFamily="18" charset="0"/>
                        </a:rPr>
                        <a:t>. • </a:t>
                      </a:r>
                      <a:r>
                        <a:rPr lang="en-IN" sz="2200" b="1" kern="0">
                          <a:effectLst/>
                          <a:latin typeface="Cambria" panose="02040503050406030204" pitchFamily="18" charset="0"/>
                          <a:ea typeface="Cambria" panose="02040503050406030204" pitchFamily="18" charset="0"/>
                          <a:cs typeface="Mangal" panose="02040503050203030202" pitchFamily="18" charset="0"/>
                        </a:rPr>
                        <a:t>Sector-wise economic loss analysis</a:t>
                      </a:r>
                      <a:r>
                        <a:rPr lang="en-IN" sz="2200" kern="0">
                          <a:effectLst/>
                          <a:latin typeface="Cambria" panose="02040503050406030204" pitchFamily="18" charset="0"/>
                          <a:ea typeface="Cambria" panose="02040503050406030204" pitchFamily="18" charset="0"/>
                          <a:cs typeface="Mangal" panose="02040503050203030202" pitchFamily="18" charset="0"/>
                        </a:rPr>
                        <a:t> (banking, digital payments, e-commerce, government infrastructure). • </a:t>
                      </a:r>
                      <a:r>
                        <a:rPr lang="en-IN" sz="2200" b="1" kern="0">
                          <a:effectLst/>
                          <a:latin typeface="Cambria" panose="02040503050406030204" pitchFamily="18" charset="0"/>
                          <a:ea typeface="Cambria" panose="02040503050406030204" pitchFamily="18" charset="0"/>
                          <a:cs typeface="Mangal" panose="02040503050203030202" pitchFamily="18" charset="0"/>
                        </a:rPr>
                        <a:t>Cost estimation of cyber attacks</a:t>
                      </a:r>
                      <a:r>
                        <a:rPr lang="en-IN" sz="2200" kern="0">
                          <a:effectLst/>
                          <a:latin typeface="Cambria" panose="02040503050406030204" pitchFamily="18" charset="0"/>
                          <a:ea typeface="Cambria" panose="02040503050406030204" pitchFamily="18" charset="0"/>
                          <a:cs typeface="Mangal" panose="02040503050203030202" pitchFamily="18" charset="0"/>
                        </a:rPr>
                        <a:t> and cybersecurity investment trends. </a:t>
                      </a:r>
                      <a:r>
                        <a:rPr lang="en-IN" sz="2200" b="1" kern="0">
                          <a:effectLst/>
                          <a:latin typeface="Cambria" panose="02040503050406030204" pitchFamily="18" charset="0"/>
                          <a:ea typeface="Cambria" panose="02040503050406030204" pitchFamily="18" charset="0"/>
                          <a:cs typeface="Mangal" panose="02040503050203030202" pitchFamily="18" charset="0"/>
                        </a:rPr>
                        <a:t>Cyber Risk Mapping</a:t>
                      </a:r>
                      <a:r>
                        <a:rPr lang="en-IN" sz="2200" kern="0">
                          <a:effectLst/>
                          <a:latin typeface="Cambria" panose="02040503050406030204" pitchFamily="18" charset="0"/>
                          <a:ea typeface="Cambria" panose="02040503050406030204" pitchFamily="18" charset="0"/>
                          <a:cs typeface="Mangal" panose="02040503050203030202" pitchFamily="18" charset="0"/>
                        </a:rPr>
                        <a:t> • Identification of </a:t>
                      </a:r>
                      <a:r>
                        <a:rPr lang="en-IN" sz="2200" b="1" kern="0">
                          <a:effectLst/>
                          <a:latin typeface="Cambria" panose="02040503050406030204" pitchFamily="18" charset="0"/>
                          <a:ea typeface="Cambria" panose="02040503050406030204" pitchFamily="18" charset="0"/>
                          <a:cs typeface="Mangal" panose="02040503050203030202" pitchFamily="18" charset="0"/>
                        </a:rPr>
                        <a:t>vulnerable economic sectors and digital infrastructure</a:t>
                      </a:r>
                      <a:r>
                        <a:rPr lang="en-IN" sz="2200" kern="0">
                          <a:effectLst/>
                          <a:latin typeface="Cambria" panose="02040503050406030204" pitchFamily="18" charset="0"/>
                          <a:ea typeface="Cambria" panose="02040503050406030204" pitchFamily="18" charset="0"/>
                          <a:cs typeface="Mangal" panose="02040503050203030202" pitchFamily="18" charset="0"/>
                        </a:rPr>
                        <a:t>. • Mapping of cyber attack patterns across countries and industries.</a:t>
                      </a:r>
                      <a:endParaRPr lang="en-IN" sz="2200" kern="10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r>
                        <a:rPr lang="en-IN" sz="2200" b="1" kern="0" dirty="0">
                          <a:effectLst/>
                          <a:latin typeface="Cambria" panose="02040503050406030204" pitchFamily="18" charset="0"/>
                          <a:ea typeface="Cambria" panose="02040503050406030204" pitchFamily="18" charset="0"/>
                          <a:cs typeface="Mangal" panose="02040503050203030202" pitchFamily="18" charset="0"/>
                        </a:rPr>
                        <a:t>Requirements for the Focused Modules</a:t>
                      </a:r>
                      <a:r>
                        <a:rPr lang="en-IN" sz="2200" kern="0" dirty="0">
                          <a:effectLst/>
                          <a:latin typeface="Cambria" panose="02040503050406030204" pitchFamily="18" charset="0"/>
                          <a:ea typeface="Cambria" panose="02040503050406030204" pitchFamily="18" charset="0"/>
                          <a:cs typeface="Mangal" panose="02040503050203030202" pitchFamily="18" charset="0"/>
                        </a:rPr>
                        <a:t> Installation and use of data visualization and analytics tools such as: • </a:t>
                      </a:r>
                      <a:r>
                        <a:rPr lang="en-IN" sz="2200" b="1" kern="0" dirty="0">
                          <a:effectLst/>
                          <a:latin typeface="Cambria" panose="02040503050406030204" pitchFamily="18" charset="0"/>
                          <a:ea typeface="Cambria" panose="02040503050406030204" pitchFamily="18" charset="0"/>
                          <a:cs typeface="Mangal" panose="02040503050203030202" pitchFamily="18" charset="0"/>
                        </a:rPr>
                        <a:t>Power BI dashboard</a:t>
                      </a:r>
                      <a:r>
                        <a:rPr lang="en-IN" sz="2200" kern="0" dirty="0">
                          <a:effectLst/>
                          <a:latin typeface="Cambria" panose="02040503050406030204" pitchFamily="18" charset="0"/>
                          <a:ea typeface="Cambria" panose="02040503050406030204" pitchFamily="18" charset="0"/>
                          <a:cs typeface="Mangal" panose="02040503050203030202" pitchFamily="18" charset="0"/>
                        </a:rPr>
                        <a:t> for economic data analysis. • </a:t>
                      </a:r>
                      <a:r>
                        <a:rPr lang="en-IN" sz="2200" b="1" kern="0" dirty="0">
                          <a:effectLst/>
                          <a:latin typeface="Cambria" panose="02040503050406030204" pitchFamily="18" charset="0"/>
                          <a:ea typeface="Cambria" panose="02040503050406030204" pitchFamily="18" charset="0"/>
                          <a:cs typeface="Mangal" panose="02040503050203030202" pitchFamily="18" charset="0"/>
                        </a:rPr>
                        <a:t>Excel datasets</a:t>
                      </a:r>
                      <a:r>
                        <a:rPr lang="en-IN" sz="2200" kern="0" dirty="0">
                          <a:effectLst/>
                          <a:latin typeface="Cambria" panose="02040503050406030204" pitchFamily="18" charset="0"/>
                          <a:ea typeface="Cambria" panose="02040503050406030204" pitchFamily="18" charset="0"/>
                          <a:cs typeface="Mangal" panose="02040503050203030202" pitchFamily="18" charset="0"/>
                        </a:rPr>
                        <a:t> for organising cyber attack statistics. • </a:t>
                      </a:r>
                      <a:r>
                        <a:rPr lang="en-IN" sz="2200" b="1" kern="0" dirty="0">
                          <a:effectLst/>
                          <a:latin typeface="Cambria" panose="02040503050406030204" pitchFamily="18" charset="0"/>
                          <a:ea typeface="Cambria" panose="02040503050406030204" pitchFamily="18" charset="0"/>
                          <a:cs typeface="Mangal" panose="02040503050203030202" pitchFamily="18" charset="0"/>
                        </a:rPr>
                        <a:t>Canva visual framework</a:t>
                      </a:r>
                      <a:r>
                        <a:rPr lang="en-IN" sz="2200" kern="0" dirty="0">
                          <a:effectLst/>
                          <a:latin typeface="Cambria" panose="02040503050406030204" pitchFamily="18" charset="0"/>
                          <a:ea typeface="Cambria" panose="02040503050406030204" pitchFamily="18" charset="0"/>
                          <a:cs typeface="Mangal" panose="02040503050203030202" pitchFamily="18" charset="0"/>
                        </a:rPr>
                        <a:t> for presenting cybersecurity policy strategies.</a:t>
                      </a:r>
                      <a:endParaRPr lang="en-IN" sz="22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endParaRPr lang="en-IN" sz="22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389834083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3D42AA3E-1ACB-A238-614E-114868C36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77E04-507F-6CB3-F227-86FA53CFD5EB}"/>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5 – prototype:</a:t>
            </a:r>
          </a:p>
        </p:txBody>
      </p:sp>
      <p:graphicFrame>
        <p:nvGraphicFramePr>
          <p:cNvPr id="7" name="Table 6">
            <a:extLst>
              <a:ext uri="{FF2B5EF4-FFF2-40B4-BE49-F238E27FC236}">
                <a16:creationId xmlns:a16="http://schemas.microsoft.com/office/drawing/2014/main" id="{939B7C53-2A11-7913-9330-5FE7AB77911D}"/>
              </a:ext>
            </a:extLst>
          </p:cNvPr>
          <p:cNvGraphicFramePr>
            <a:graphicFrameLocks noGrp="1"/>
          </p:cNvGraphicFramePr>
          <p:nvPr>
            <p:extLst>
              <p:ext uri="{D42A27DB-BD31-4B8C-83A1-F6EECF244321}">
                <p14:modId xmlns:p14="http://schemas.microsoft.com/office/powerpoint/2010/main" val="1244942842"/>
              </p:ext>
            </p:extLst>
          </p:nvPr>
        </p:nvGraphicFramePr>
        <p:xfrm>
          <a:off x="0" y="672783"/>
          <a:ext cx="12192000" cy="6257735"/>
        </p:xfrm>
        <a:graphic>
          <a:graphicData uri="http://schemas.openxmlformats.org/drawingml/2006/table">
            <a:tbl>
              <a:tblPr firstRow="1" firstCol="1" bandRow="1">
                <a:tableStyleId>{22838BEF-8BB2-4498-84A7-C5851F593DF1}</a:tableStyleId>
              </a:tblPr>
              <a:tblGrid>
                <a:gridCol w="1237561">
                  <a:extLst>
                    <a:ext uri="{9D8B030D-6E8A-4147-A177-3AD203B41FA5}">
                      <a16:colId xmlns:a16="http://schemas.microsoft.com/office/drawing/2014/main" val="3867415840"/>
                    </a:ext>
                  </a:extLst>
                </a:gridCol>
                <a:gridCol w="5254679">
                  <a:extLst>
                    <a:ext uri="{9D8B030D-6E8A-4147-A177-3AD203B41FA5}">
                      <a16:colId xmlns:a16="http://schemas.microsoft.com/office/drawing/2014/main" val="2329674036"/>
                    </a:ext>
                  </a:extLst>
                </a:gridCol>
                <a:gridCol w="3566160">
                  <a:extLst>
                    <a:ext uri="{9D8B030D-6E8A-4147-A177-3AD203B41FA5}">
                      <a16:colId xmlns:a16="http://schemas.microsoft.com/office/drawing/2014/main" val="77315634"/>
                    </a:ext>
                  </a:extLst>
                </a:gridCol>
                <a:gridCol w="21336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a:t>
                      </a:r>
                    </a:p>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nSpc>
                          <a:spcPct val="107000"/>
                        </a:lnSpc>
                        <a:spcAft>
                          <a:spcPts val="800"/>
                        </a:spcAft>
                        <a:buNone/>
                      </a:pPr>
                      <a:r>
                        <a:rPr lang="en-IN" sz="2400" b="1" kern="0" dirty="0">
                          <a:effectLst/>
                          <a:latin typeface="Cambria" panose="02040503050406030204" pitchFamily="18" charset="0"/>
                          <a:ea typeface="Cambria" panose="02040503050406030204" pitchFamily="18" charset="0"/>
                          <a:cs typeface="Mangal" panose="02040503050203030202" pitchFamily="18" charset="0"/>
                        </a:rPr>
                        <a:t>Stage IX – Micromodule</a:t>
                      </a: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r>
                        <a:rPr lang="en-IN" sz="2400" b="1" kern="1200" dirty="0">
                          <a:solidFill>
                            <a:schemeClr val="dk1"/>
                          </a:solidFill>
                          <a:effectLst/>
                          <a:latin typeface="Cambria" panose="02040503050406030204" pitchFamily="18" charset="0"/>
                          <a:ea typeface="Cambria" panose="02040503050406030204" pitchFamily="18" charset="0"/>
                          <a:cs typeface="+mn-cs"/>
                        </a:rPr>
                        <a:t>Simulated Data:</a:t>
                      </a:r>
                    </a:p>
                    <a:p>
                      <a:pPr>
                        <a:lnSpc>
                          <a:spcPct val="107000"/>
                        </a:lnSpc>
                        <a:spcAft>
                          <a:spcPts val="800"/>
                        </a:spcAft>
                        <a:buNone/>
                      </a:pPr>
                      <a:r>
                        <a:rPr lang="en-IN" sz="2400" kern="1200" dirty="0">
                          <a:solidFill>
                            <a:schemeClr val="dk1"/>
                          </a:solidFill>
                          <a:effectLst/>
                          <a:latin typeface="Cambria" panose="02040503050406030204" pitchFamily="18" charset="0"/>
                          <a:ea typeface="Cambria" panose="02040503050406030204" pitchFamily="18" charset="0"/>
                          <a:cs typeface="+mn-cs"/>
                        </a:rPr>
                        <a:t>Students create </a:t>
                      </a:r>
                      <a:r>
                        <a:rPr lang="en-IN" sz="2400" b="1" kern="1200" dirty="0">
                          <a:solidFill>
                            <a:schemeClr val="dk1"/>
                          </a:solidFill>
                          <a:effectLst/>
                          <a:latin typeface="Cambria" panose="02040503050406030204" pitchFamily="18" charset="0"/>
                          <a:ea typeface="Cambria" panose="02040503050406030204" pitchFamily="18" charset="0"/>
                          <a:cs typeface="+mn-cs"/>
                        </a:rPr>
                        <a:t>sample datasets or hypothetical scenarios</a:t>
                      </a:r>
                      <a:r>
                        <a:rPr lang="en-IN" sz="2400" kern="1200" dirty="0">
                          <a:solidFill>
                            <a:schemeClr val="dk1"/>
                          </a:solidFill>
                          <a:effectLst/>
                          <a:latin typeface="Cambria" panose="02040503050406030204" pitchFamily="18" charset="0"/>
                          <a:ea typeface="Cambria" panose="02040503050406030204" pitchFamily="18" charset="0"/>
                          <a:cs typeface="+mn-cs"/>
                        </a:rPr>
                        <a:t> showing cyber attack impacts such as: • Estimated financial loss from cyber attacks. • Number of attacks across sectors. • Cybersecurity investment required to mitigate risks.</a:t>
                      </a:r>
                    </a:p>
                    <a:p>
                      <a:pPr>
                        <a:lnSpc>
                          <a:spcPct val="107000"/>
                        </a:lnSpc>
                        <a:spcAft>
                          <a:spcPts val="800"/>
                        </a:spcAft>
                        <a:buNone/>
                      </a:pPr>
                      <a:endParaRPr lang="en-IN" sz="2400" kern="1200" dirty="0">
                        <a:solidFill>
                          <a:schemeClr val="dk1"/>
                        </a:solidFill>
                        <a:effectLst/>
                        <a:latin typeface="Cambria" panose="02040503050406030204" pitchFamily="18" charset="0"/>
                        <a:ea typeface="Cambria" panose="02040503050406030204" pitchFamily="18" charset="0"/>
                        <a:cs typeface="+mn-cs"/>
                      </a:endParaRPr>
                    </a:p>
                    <a:p>
                      <a:pPr>
                        <a:lnSpc>
                          <a:spcPct val="107000"/>
                        </a:lnSpc>
                        <a:spcAft>
                          <a:spcPts val="800"/>
                        </a:spcAft>
                        <a:buNone/>
                      </a:pP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pic>
        <p:nvPicPr>
          <p:cNvPr id="10" name="Picture 9">
            <a:extLst>
              <a:ext uri="{FF2B5EF4-FFF2-40B4-BE49-F238E27FC236}">
                <a16:creationId xmlns:a16="http://schemas.microsoft.com/office/drawing/2014/main" id="{7B82A5CE-D498-5092-E854-70C811E573F8}"/>
              </a:ext>
            </a:extLst>
          </p:cNvPr>
          <p:cNvPicPr>
            <a:picLocks noChangeAspect="1"/>
          </p:cNvPicPr>
          <p:nvPr/>
        </p:nvPicPr>
        <p:blipFill>
          <a:blip r:embed="rId4"/>
          <a:stretch>
            <a:fillRect/>
          </a:stretch>
        </p:blipFill>
        <p:spPr>
          <a:xfrm>
            <a:off x="1601512" y="1680673"/>
            <a:ext cx="4608787" cy="5032841"/>
          </a:xfrm>
          <a:prstGeom prst="rect">
            <a:avLst/>
          </a:prstGeom>
        </p:spPr>
      </p:pic>
    </p:spTree>
    <p:extLst>
      <p:ext uri="{BB962C8B-B14F-4D97-AF65-F5344CB8AC3E}">
        <p14:creationId xmlns:p14="http://schemas.microsoft.com/office/powerpoint/2010/main" val="41731394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2189F2CD-BEC0-A9B4-203F-10737D7BF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FDA32-F088-5249-0082-4CED453292AA}"/>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5 – prototype:</a:t>
            </a:r>
          </a:p>
        </p:txBody>
      </p:sp>
      <p:graphicFrame>
        <p:nvGraphicFramePr>
          <p:cNvPr id="7" name="Table 6">
            <a:extLst>
              <a:ext uri="{FF2B5EF4-FFF2-40B4-BE49-F238E27FC236}">
                <a16:creationId xmlns:a16="http://schemas.microsoft.com/office/drawing/2014/main" id="{E193D9FA-300B-F767-BCD4-E70176074820}"/>
              </a:ext>
            </a:extLst>
          </p:cNvPr>
          <p:cNvGraphicFramePr>
            <a:graphicFrameLocks noGrp="1"/>
          </p:cNvGraphicFramePr>
          <p:nvPr>
            <p:extLst>
              <p:ext uri="{D42A27DB-BD31-4B8C-83A1-F6EECF244321}">
                <p14:modId xmlns:p14="http://schemas.microsoft.com/office/powerpoint/2010/main" val="4070295136"/>
              </p:ext>
            </p:extLst>
          </p:nvPr>
        </p:nvGraphicFramePr>
        <p:xfrm>
          <a:off x="0" y="672783"/>
          <a:ext cx="12192000" cy="6400483"/>
        </p:xfrm>
        <a:graphic>
          <a:graphicData uri="http://schemas.openxmlformats.org/drawingml/2006/table">
            <a:tbl>
              <a:tblPr firstRow="1" firstCol="1" bandRow="1">
                <a:tableStyleId>{22838BEF-8BB2-4498-84A7-C5851F593DF1}</a:tableStyleId>
              </a:tblPr>
              <a:tblGrid>
                <a:gridCol w="1511300">
                  <a:extLst>
                    <a:ext uri="{9D8B030D-6E8A-4147-A177-3AD203B41FA5}">
                      <a16:colId xmlns:a16="http://schemas.microsoft.com/office/drawing/2014/main" val="3867415840"/>
                    </a:ext>
                  </a:extLst>
                </a:gridCol>
                <a:gridCol w="5054600">
                  <a:extLst>
                    <a:ext uri="{9D8B030D-6E8A-4147-A177-3AD203B41FA5}">
                      <a16:colId xmlns:a16="http://schemas.microsoft.com/office/drawing/2014/main" val="2329674036"/>
                    </a:ext>
                  </a:extLst>
                </a:gridCol>
                <a:gridCol w="4064000">
                  <a:extLst>
                    <a:ext uri="{9D8B030D-6E8A-4147-A177-3AD203B41FA5}">
                      <a16:colId xmlns:a16="http://schemas.microsoft.com/office/drawing/2014/main" val="77315634"/>
                    </a:ext>
                  </a:extLst>
                </a:gridCol>
                <a:gridCol w="15621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a:t>
                      </a:r>
                    </a:p>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nSpc>
                          <a:spcPct val="107000"/>
                        </a:lnSpc>
                        <a:spcAft>
                          <a:spcPts val="800"/>
                        </a:spcAft>
                        <a:buNone/>
                      </a:pPr>
                      <a:r>
                        <a:rPr lang="en-IN" sz="2400" b="1" kern="0" dirty="0">
                          <a:effectLst/>
                          <a:latin typeface="Cambria" panose="02040503050406030204" pitchFamily="18" charset="0"/>
                          <a:ea typeface="Cambria" panose="02040503050406030204" pitchFamily="18" charset="0"/>
                          <a:cs typeface="Mangal" panose="02040503050203030202" pitchFamily="18" charset="0"/>
                        </a:rPr>
                        <a:t>Stage X – Execution Process Flow</a:t>
                      </a:r>
                      <a:endParaRPr lang="en-IN" sz="20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endParaRPr lang="en-IN" sz="20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r>
                        <a:rPr lang="en-IN" sz="2400" b="1" kern="0" dirty="0">
                          <a:effectLst/>
                          <a:latin typeface="Cambria" panose="02040503050406030204" pitchFamily="18" charset="0"/>
                          <a:ea typeface="Cambria" panose="02040503050406030204" pitchFamily="18" charset="0"/>
                          <a:cs typeface="Mangal" panose="02040503050203030202" pitchFamily="18" charset="0"/>
                        </a:rPr>
                        <a:t>Data Visualization</a:t>
                      </a:r>
                      <a:r>
                        <a:rPr lang="en-IN" sz="2400" kern="0" dirty="0">
                          <a:effectLst/>
                          <a:latin typeface="Cambria" panose="02040503050406030204" pitchFamily="18" charset="0"/>
                          <a:ea typeface="Cambria" panose="02040503050406030204" pitchFamily="18" charset="0"/>
                          <a:cs typeface="Mangal" panose="02040503050203030202" pitchFamily="18" charset="0"/>
                        </a:rPr>
                        <a:t> Creation of charts, dashboards, and infographics illustrating: </a:t>
                      </a:r>
                    </a:p>
                    <a:p>
                      <a:pPr>
                        <a:lnSpc>
                          <a:spcPct val="107000"/>
                        </a:lnSpc>
                        <a:spcAft>
                          <a:spcPts val="800"/>
                        </a:spcAft>
                        <a:buNone/>
                      </a:pPr>
                      <a:r>
                        <a:rPr lang="en-IN" sz="2400" kern="0" dirty="0">
                          <a:effectLst/>
                          <a:latin typeface="Cambria" panose="02040503050406030204" pitchFamily="18" charset="0"/>
                          <a:ea typeface="Cambria" panose="02040503050406030204" pitchFamily="18" charset="0"/>
                          <a:cs typeface="Mangal" panose="02040503050203030202" pitchFamily="18" charset="0"/>
                        </a:rPr>
                        <a:t>• Cyber attack trends over time. </a:t>
                      </a:r>
                    </a:p>
                    <a:p>
                      <a:pPr>
                        <a:lnSpc>
                          <a:spcPct val="107000"/>
                        </a:lnSpc>
                        <a:spcAft>
                          <a:spcPts val="800"/>
                        </a:spcAft>
                        <a:buNone/>
                      </a:pPr>
                      <a:r>
                        <a:rPr lang="en-IN" sz="2400" kern="0" dirty="0">
                          <a:effectLst/>
                          <a:latin typeface="Cambria" panose="02040503050406030204" pitchFamily="18" charset="0"/>
                          <a:ea typeface="Cambria" panose="02040503050406030204" pitchFamily="18" charset="0"/>
                          <a:cs typeface="Mangal" panose="02040503050203030202" pitchFamily="18" charset="0"/>
                        </a:rPr>
                        <a:t>• Economic losses across sectors. </a:t>
                      </a:r>
                    </a:p>
                    <a:p>
                      <a:pPr>
                        <a:lnSpc>
                          <a:spcPct val="107000"/>
                        </a:lnSpc>
                        <a:spcAft>
                          <a:spcPts val="800"/>
                        </a:spcAft>
                        <a:buNone/>
                      </a:pPr>
                      <a:r>
                        <a:rPr lang="en-IN" sz="2400" kern="0" dirty="0">
                          <a:effectLst/>
                          <a:latin typeface="Cambria" panose="02040503050406030204" pitchFamily="18" charset="0"/>
                          <a:ea typeface="Cambria" panose="02040503050406030204" pitchFamily="18" charset="0"/>
                          <a:cs typeface="Mangal" panose="02040503050203030202" pitchFamily="18" charset="0"/>
                        </a:rPr>
                        <a:t>• Countries most affected by cyber warfare. </a:t>
                      </a:r>
                    </a:p>
                    <a:p>
                      <a:pPr>
                        <a:lnSpc>
                          <a:spcPct val="107000"/>
                        </a:lnSpc>
                        <a:spcAft>
                          <a:spcPts val="800"/>
                        </a:spcAft>
                        <a:buNone/>
                      </a:pPr>
                      <a:r>
                        <a:rPr lang="en-IN" sz="2400" kern="0" dirty="0">
                          <a:effectLst/>
                          <a:latin typeface="Cambria" panose="02040503050406030204" pitchFamily="18" charset="0"/>
                          <a:ea typeface="Cambria" panose="02040503050406030204" pitchFamily="18" charset="0"/>
                          <a:cs typeface="Mangal" panose="02040503050203030202" pitchFamily="18" charset="0"/>
                        </a:rPr>
                        <a:t>• Policy recommendations for strengthening cybersecurity resilience.</a:t>
                      </a:r>
                    </a:p>
                    <a:p>
                      <a:pPr>
                        <a:lnSpc>
                          <a:spcPct val="107000"/>
                        </a:lnSpc>
                        <a:spcAft>
                          <a:spcPts val="800"/>
                        </a:spcAft>
                        <a:buNone/>
                      </a:pPr>
                      <a:endParaRPr lang="en-IN" sz="20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endParaRPr lang="en-IN" sz="2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pic>
        <p:nvPicPr>
          <p:cNvPr id="4" name="Picture 3">
            <a:extLst>
              <a:ext uri="{FF2B5EF4-FFF2-40B4-BE49-F238E27FC236}">
                <a16:creationId xmlns:a16="http://schemas.microsoft.com/office/drawing/2014/main" id="{79B83C99-8F08-7B92-5CA9-EC8050288767}"/>
              </a:ext>
            </a:extLst>
          </p:cNvPr>
          <p:cNvPicPr>
            <a:picLocks noChangeAspect="1"/>
          </p:cNvPicPr>
          <p:nvPr/>
        </p:nvPicPr>
        <p:blipFill>
          <a:blip r:embed="rId4"/>
          <a:stretch>
            <a:fillRect/>
          </a:stretch>
        </p:blipFill>
        <p:spPr>
          <a:xfrm>
            <a:off x="1776139" y="1546343"/>
            <a:ext cx="4408761" cy="5470726"/>
          </a:xfrm>
          <a:prstGeom prst="rect">
            <a:avLst/>
          </a:prstGeom>
        </p:spPr>
      </p:pic>
    </p:spTree>
    <p:extLst>
      <p:ext uri="{BB962C8B-B14F-4D97-AF65-F5344CB8AC3E}">
        <p14:creationId xmlns:p14="http://schemas.microsoft.com/office/powerpoint/2010/main" val="317706639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BE7EAC3E-B8D8-4F82-FCF1-1AEA86D98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40F92-70C1-EC2C-D8D1-B5EF941C8DDE}"/>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6 – validation:</a:t>
            </a:r>
          </a:p>
        </p:txBody>
      </p:sp>
      <p:graphicFrame>
        <p:nvGraphicFramePr>
          <p:cNvPr id="7" name="Table 6">
            <a:extLst>
              <a:ext uri="{FF2B5EF4-FFF2-40B4-BE49-F238E27FC236}">
                <a16:creationId xmlns:a16="http://schemas.microsoft.com/office/drawing/2014/main" id="{797FBD00-9823-8497-598D-62E589E772A0}"/>
              </a:ext>
            </a:extLst>
          </p:cNvPr>
          <p:cNvGraphicFramePr>
            <a:graphicFrameLocks noGrp="1"/>
          </p:cNvGraphicFramePr>
          <p:nvPr>
            <p:extLst>
              <p:ext uri="{D42A27DB-BD31-4B8C-83A1-F6EECF244321}">
                <p14:modId xmlns:p14="http://schemas.microsoft.com/office/powerpoint/2010/main" val="3634670072"/>
              </p:ext>
            </p:extLst>
          </p:nvPr>
        </p:nvGraphicFramePr>
        <p:xfrm>
          <a:off x="0" y="672783"/>
          <a:ext cx="12192000" cy="6168581"/>
        </p:xfrm>
        <a:graphic>
          <a:graphicData uri="http://schemas.openxmlformats.org/drawingml/2006/table">
            <a:tbl>
              <a:tblPr firstRow="1" firstCol="1" bandRow="1">
                <a:tableStyleId>{22838BEF-8BB2-4498-84A7-C5851F593DF1}</a:tableStyleId>
              </a:tblPr>
              <a:tblGrid>
                <a:gridCol w="1511300">
                  <a:extLst>
                    <a:ext uri="{9D8B030D-6E8A-4147-A177-3AD203B41FA5}">
                      <a16:colId xmlns:a16="http://schemas.microsoft.com/office/drawing/2014/main" val="3867415840"/>
                    </a:ext>
                  </a:extLst>
                </a:gridCol>
                <a:gridCol w="6045200">
                  <a:extLst>
                    <a:ext uri="{9D8B030D-6E8A-4147-A177-3AD203B41FA5}">
                      <a16:colId xmlns:a16="http://schemas.microsoft.com/office/drawing/2014/main" val="2329674036"/>
                    </a:ext>
                  </a:extLst>
                </a:gridCol>
                <a:gridCol w="1866900">
                  <a:extLst>
                    <a:ext uri="{9D8B030D-6E8A-4147-A177-3AD203B41FA5}">
                      <a16:colId xmlns:a16="http://schemas.microsoft.com/office/drawing/2014/main" val="77315634"/>
                    </a:ext>
                  </a:extLst>
                </a:gridCol>
                <a:gridCol w="27686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a:t>
                      </a:r>
                    </a:p>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Stage XI – Testing</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Mapping &amp; Evaluation of the Prototype System</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a:t>
                      </a:r>
                      <a:r>
                        <a:rPr lang="en-IN" sz="2000" b="1" kern="0" dirty="0">
                          <a:effectLst/>
                          <a:latin typeface="Cambria" panose="02040503050406030204" pitchFamily="18" charset="0"/>
                          <a:ea typeface="Cambria" panose="02040503050406030204" pitchFamily="18" charset="0"/>
                          <a:cs typeface="Mangal" panose="02040503050203030202" pitchFamily="18" charset="0"/>
                        </a:rPr>
                        <a:t>Overall System Validation</a:t>
                      </a:r>
                      <a:r>
                        <a:rPr lang="en-IN" sz="2000" kern="0" dirty="0">
                          <a:effectLst/>
                          <a:latin typeface="Cambria" panose="02040503050406030204" pitchFamily="18" charset="0"/>
                          <a:ea typeface="Cambria" panose="02040503050406030204" pitchFamily="18" charset="0"/>
                          <a:cs typeface="Mangal" panose="02040503050203030202" pitchFamily="18" charset="0"/>
                        </a:rPr>
                        <a:t> – Testing whether the prototype model clearly explains the </a:t>
                      </a:r>
                      <a:r>
                        <a:rPr lang="en-IN" sz="2000" b="1" kern="0" dirty="0">
                          <a:effectLst/>
                          <a:latin typeface="Cambria" panose="02040503050406030204" pitchFamily="18" charset="0"/>
                          <a:ea typeface="Cambria" panose="02040503050406030204" pitchFamily="18" charset="0"/>
                          <a:cs typeface="Mangal" panose="02040503050203030202" pitchFamily="18" charset="0"/>
                        </a:rPr>
                        <a:t>economic impact of cyber warfare</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a:t>
                      </a:r>
                      <a:r>
                        <a:rPr lang="en-IN" sz="2000" b="1" kern="0" dirty="0">
                          <a:effectLst/>
                          <a:latin typeface="Cambria" panose="02040503050406030204" pitchFamily="18" charset="0"/>
                          <a:ea typeface="Cambria" panose="02040503050406030204" pitchFamily="18" charset="0"/>
                          <a:cs typeface="Mangal" panose="02040503050203030202" pitchFamily="18" charset="0"/>
                        </a:rPr>
                        <a:t>Administrative Dashboard Testing</a:t>
                      </a:r>
                      <a:r>
                        <a:rPr lang="en-IN" sz="2000" kern="0" dirty="0">
                          <a:effectLst/>
                          <a:latin typeface="Cambria" panose="02040503050406030204" pitchFamily="18" charset="0"/>
                          <a:ea typeface="Cambria" panose="02040503050406030204" pitchFamily="18" charset="0"/>
                          <a:cs typeface="Mangal" panose="02040503050203030202" pitchFamily="18" charset="0"/>
                        </a:rPr>
                        <a:t> – Checking the functionality of the </a:t>
                      </a:r>
                      <a:r>
                        <a:rPr lang="en-IN" sz="2000" b="1" kern="0" dirty="0">
                          <a:effectLst/>
                          <a:latin typeface="Cambria" panose="02040503050406030204" pitchFamily="18" charset="0"/>
                          <a:ea typeface="Cambria" panose="02040503050406030204" pitchFamily="18" charset="0"/>
                          <a:cs typeface="Mangal" panose="02040503050203030202" pitchFamily="18" charset="0"/>
                        </a:rPr>
                        <a:t>data visualization dashboard</a:t>
                      </a:r>
                      <a:r>
                        <a:rPr lang="en-IN" sz="2000" kern="0" dirty="0">
                          <a:effectLst/>
                          <a:latin typeface="Cambria" panose="02040503050406030204" pitchFamily="18" charset="0"/>
                          <a:ea typeface="Cambria" panose="02040503050406030204" pitchFamily="18" charset="0"/>
                          <a:cs typeface="Mangal" panose="02040503050203030202" pitchFamily="18" charset="0"/>
                        </a:rPr>
                        <a:t> that shows cyber attack trends, sector-wise economic losses, and country-wise cyber incidents. </a:t>
                      </a:r>
                    </a:p>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a:t>
                      </a:r>
                      <a:r>
                        <a:rPr lang="en-IN" sz="2000" b="1" kern="0" dirty="0">
                          <a:effectLst/>
                          <a:latin typeface="Cambria" panose="02040503050406030204" pitchFamily="18" charset="0"/>
                          <a:ea typeface="Cambria" panose="02040503050406030204" pitchFamily="18" charset="0"/>
                          <a:cs typeface="Mangal" panose="02040503050203030202" pitchFamily="18" charset="0"/>
                        </a:rPr>
                        <a:t>Economic Risk Mapping</a:t>
                      </a:r>
                      <a:r>
                        <a:rPr lang="en-IN" sz="2000" kern="0" dirty="0">
                          <a:effectLst/>
                          <a:latin typeface="Cambria" panose="02040503050406030204" pitchFamily="18" charset="0"/>
                          <a:ea typeface="Cambria" panose="02040503050406030204" pitchFamily="18" charset="0"/>
                          <a:cs typeface="Mangal" panose="02040503050203030202" pitchFamily="18" charset="0"/>
                        </a:rPr>
                        <a:t> – Evaluating the identification of </a:t>
                      </a:r>
                      <a:r>
                        <a:rPr lang="en-IN" sz="2000" b="1" kern="0" dirty="0">
                          <a:effectLst/>
                          <a:latin typeface="Cambria" panose="02040503050406030204" pitchFamily="18" charset="0"/>
                          <a:ea typeface="Cambria" panose="02040503050406030204" pitchFamily="18" charset="0"/>
                          <a:cs typeface="Mangal" panose="02040503050203030202" pitchFamily="18" charset="0"/>
                        </a:rPr>
                        <a:t>vulnerable economic sectors</a:t>
                      </a:r>
                      <a:r>
                        <a:rPr lang="en-IN" sz="2000" kern="0" dirty="0">
                          <a:effectLst/>
                          <a:latin typeface="Cambria" panose="02040503050406030204" pitchFamily="18" charset="0"/>
                          <a:ea typeface="Cambria" panose="02040503050406030204" pitchFamily="18" charset="0"/>
                          <a:cs typeface="Mangal" panose="02040503050203030202" pitchFamily="18" charset="0"/>
                        </a:rPr>
                        <a:t> such as banking, digital payments, e-commerce, and government infrastructure. </a:t>
                      </a:r>
                    </a:p>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a:t>
                      </a:r>
                      <a:r>
                        <a:rPr lang="en-IN" sz="2000" b="1" kern="0" dirty="0">
                          <a:effectLst/>
                          <a:latin typeface="Cambria" panose="02040503050406030204" pitchFamily="18" charset="0"/>
                          <a:ea typeface="Cambria" panose="02040503050406030204" pitchFamily="18" charset="0"/>
                          <a:cs typeface="Mangal" panose="02040503050203030202" pitchFamily="18" charset="0"/>
                        </a:rPr>
                        <a:t>Policy Recommendation Evaluation</a:t>
                      </a:r>
                      <a:r>
                        <a:rPr lang="en-IN" sz="2000" kern="0" dirty="0">
                          <a:effectLst/>
                          <a:latin typeface="Cambria" panose="02040503050406030204" pitchFamily="18" charset="0"/>
                          <a:ea typeface="Cambria" panose="02040503050406030204" pitchFamily="18" charset="0"/>
                          <a:cs typeface="Mangal" panose="02040503050203030202" pitchFamily="18" charset="0"/>
                        </a:rPr>
                        <a:t> – Testing whether the proposed cybersecurity and economic policy solutions are feasible and relevant.</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ct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hlinkClick r:id="rId4" action="ppaction://hlinksldjump"/>
                        </a:rPr>
                        <a:t>Outcomes</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Evaluation based on: </a:t>
                      </a:r>
                    </a:p>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Accuracy and reliability of analysed data. </a:t>
                      </a:r>
                    </a:p>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Clarity of dashboard visualization and interpretation. </a:t>
                      </a:r>
                    </a:p>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Relevance and practicality of proposed economic and cybersecurity policies. </a:t>
                      </a:r>
                    </a:p>
                    <a:p>
                      <a:pPr>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Overall effectiveness of the prototype in explaining the economic impact of cyber warfare.</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103353710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8E503850-B84E-26FD-DC23-3CCD42641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63EF5-42C8-F26D-DBB8-FEF36737A1F7}"/>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hlinkClick r:id="rId4" action="ppaction://hlinksldjump"/>
              </a:rPr>
              <a:t>Outcomes</a:t>
            </a:r>
            <a:r>
              <a:rPr lang="en-US" sz="3800" dirty="0">
                <a:latin typeface="Cambria" panose="02040503050406030204" pitchFamily="18" charset="0"/>
                <a:ea typeface="Cambria" panose="02040503050406030204" pitchFamily="18" charset="0"/>
              </a:rPr>
              <a:t>:</a:t>
            </a:r>
          </a:p>
        </p:txBody>
      </p:sp>
      <p:graphicFrame>
        <p:nvGraphicFramePr>
          <p:cNvPr id="3" name="Table 2">
            <a:extLst>
              <a:ext uri="{FF2B5EF4-FFF2-40B4-BE49-F238E27FC236}">
                <a16:creationId xmlns:a16="http://schemas.microsoft.com/office/drawing/2014/main" id="{E1394872-BDD4-3FF2-434E-E2644FC78D3F}"/>
              </a:ext>
            </a:extLst>
          </p:cNvPr>
          <p:cNvGraphicFramePr>
            <a:graphicFrameLocks noGrp="1"/>
          </p:cNvGraphicFramePr>
          <p:nvPr>
            <p:extLst>
              <p:ext uri="{D42A27DB-BD31-4B8C-83A1-F6EECF244321}">
                <p14:modId xmlns:p14="http://schemas.microsoft.com/office/powerpoint/2010/main" val="1146710725"/>
              </p:ext>
            </p:extLst>
          </p:nvPr>
        </p:nvGraphicFramePr>
        <p:xfrm>
          <a:off x="211554" y="558483"/>
          <a:ext cx="11768892" cy="6287592"/>
        </p:xfrm>
        <a:graphic>
          <a:graphicData uri="http://schemas.openxmlformats.org/drawingml/2006/table">
            <a:tbl>
              <a:tblPr/>
              <a:tblGrid>
                <a:gridCol w="5596693">
                  <a:extLst>
                    <a:ext uri="{9D8B030D-6E8A-4147-A177-3AD203B41FA5}">
                      <a16:colId xmlns:a16="http://schemas.microsoft.com/office/drawing/2014/main" val="671971055"/>
                    </a:ext>
                  </a:extLst>
                </a:gridCol>
                <a:gridCol w="3517900">
                  <a:extLst>
                    <a:ext uri="{9D8B030D-6E8A-4147-A177-3AD203B41FA5}">
                      <a16:colId xmlns:a16="http://schemas.microsoft.com/office/drawing/2014/main" val="1635440279"/>
                    </a:ext>
                  </a:extLst>
                </a:gridCol>
                <a:gridCol w="2654299">
                  <a:extLst>
                    <a:ext uri="{9D8B030D-6E8A-4147-A177-3AD203B41FA5}">
                      <a16:colId xmlns:a16="http://schemas.microsoft.com/office/drawing/2014/main" val="3379863934"/>
                    </a:ext>
                  </a:extLst>
                </a:gridCol>
              </a:tblGrid>
              <a:tr h="290286">
                <a:tc>
                  <a:txBody>
                    <a:bodyPr/>
                    <a:lstStyle/>
                    <a:p>
                      <a:pPr algn="ctr">
                        <a:buNone/>
                      </a:pPr>
                      <a:r>
                        <a:rPr lang="en-IN" sz="2400" b="1" dirty="0">
                          <a:latin typeface="Cambria" panose="02040503050406030204" pitchFamily="18" charset="0"/>
                          <a:ea typeface="Cambria" panose="02040503050406030204" pitchFamily="18" charset="0"/>
                        </a:rPr>
                        <a:t>Question</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latin typeface="Cambria" panose="02040503050406030204" pitchFamily="18" charset="0"/>
                          <a:ea typeface="Cambria" panose="02040503050406030204" pitchFamily="18" charset="0"/>
                        </a:rPr>
                        <a:t>Yes</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latin typeface="Cambria" panose="02040503050406030204" pitchFamily="18" charset="0"/>
                          <a:ea typeface="Cambria" panose="02040503050406030204" pitchFamily="18" charset="0"/>
                        </a:rPr>
                        <a:t>No</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152751"/>
                  </a:ext>
                </a:extLst>
              </a:tr>
              <a:tr h="943428">
                <a:tc>
                  <a:txBody>
                    <a:bodyPr/>
                    <a:lstStyle/>
                    <a:p>
                      <a:pPr>
                        <a:buNone/>
                      </a:pPr>
                      <a:r>
                        <a:rPr lang="en-US" sz="2400">
                          <a:latin typeface="Cambria" panose="02040503050406030204" pitchFamily="18" charset="0"/>
                          <a:ea typeface="Cambria" panose="02040503050406030204" pitchFamily="18" charset="0"/>
                        </a:rPr>
                        <a:t>Does the prototype system explain the economic impact of cyber warfare on different sectors?</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dirty="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6864570"/>
                  </a:ext>
                </a:extLst>
              </a:tr>
              <a:tr h="943428">
                <a:tc>
                  <a:txBody>
                    <a:bodyPr/>
                    <a:lstStyle/>
                    <a:p>
                      <a:pPr>
                        <a:buNone/>
                      </a:pPr>
                      <a:r>
                        <a:rPr lang="en-US" sz="2400">
                          <a:latin typeface="Cambria" panose="02040503050406030204" pitchFamily="18" charset="0"/>
                          <a:ea typeface="Cambria" panose="02040503050406030204" pitchFamily="18" charset="0"/>
                        </a:rPr>
                        <a:t>Does the administrative dashboard display cyber attack trends and financial losses clearly?</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dirty="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446816"/>
                  </a:ext>
                </a:extLst>
              </a:tr>
              <a:tr h="725714">
                <a:tc>
                  <a:txBody>
                    <a:bodyPr/>
                    <a:lstStyle/>
                    <a:p>
                      <a:pPr>
                        <a:buNone/>
                      </a:pPr>
                      <a:r>
                        <a:rPr lang="en-US" sz="2400" dirty="0">
                          <a:latin typeface="Cambria" panose="02040503050406030204" pitchFamily="18" charset="0"/>
                          <a:ea typeface="Cambria" panose="02040503050406030204" pitchFamily="18" charset="0"/>
                        </a:rPr>
                        <a:t>Can data visualization help in understanding cyber attack patterns and economic damage?</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dirty="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0410599"/>
                  </a:ext>
                </a:extLst>
              </a:tr>
              <a:tr h="943428">
                <a:tc>
                  <a:txBody>
                    <a:bodyPr/>
                    <a:lstStyle/>
                    <a:p>
                      <a:pPr>
                        <a:buNone/>
                      </a:pPr>
                      <a:r>
                        <a:rPr lang="en-US" sz="2400">
                          <a:latin typeface="Cambria" panose="02040503050406030204" pitchFamily="18" charset="0"/>
                          <a:ea typeface="Cambria" panose="02040503050406030204" pitchFamily="18" charset="0"/>
                        </a:rPr>
                        <a:t>Does the cyber risk mapping identify vulnerable sectors like banking, digital payments, and e-commerce?</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dirty="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1658686"/>
                  </a:ext>
                </a:extLst>
              </a:tr>
              <a:tr h="725714">
                <a:tc>
                  <a:txBody>
                    <a:bodyPr/>
                    <a:lstStyle/>
                    <a:p>
                      <a:pPr>
                        <a:buNone/>
                      </a:pPr>
                      <a:r>
                        <a:rPr lang="en-US" sz="2400">
                          <a:latin typeface="Cambria" panose="02040503050406030204" pitchFamily="18" charset="0"/>
                          <a:ea typeface="Cambria" panose="02040503050406030204" pitchFamily="18" charset="0"/>
                        </a:rPr>
                        <a:t>Can the prototype help policymakers and businesses understand cyber warfare risks?</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dirty="0">
                          <a:latin typeface="Cambria" panose="02040503050406030204" pitchFamily="18" charset="0"/>
                          <a:ea typeface="Cambria" panose="02040503050406030204" pitchFamily="18" charset="0"/>
                        </a:rPr>
                        <a:t>☐</a:t>
                      </a:r>
                    </a:p>
                  </a:txBody>
                  <a:tcPr marL="72571" marR="72571" marT="36286" marB="362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1417139"/>
                  </a:ext>
                </a:extLst>
              </a:tr>
            </a:tbl>
          </a:graphicData>
        </a:graphic>
      </p:graphicFrame>
    </p:spTree>
    <p:extLst>
      <p:ext uri="{BB962C8B-B14F-4D97-AF65-F5344CB8AC3E}">
        <p14:creationId xmlns:p14="http://schemas.microsoft.com/office/powerpoint/2010/main" val="10197047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3BD5A9DC-D55E-7DC1-85DB-8953D8835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CB827-95E8-1B48-B395-1A20C0BC2E12}"/>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7 – implementation:</a:t>
            </a:r>
          </a:p>
        </p:txBody>
      </p:sp>
      <p:graphicFrame>
        <p:nvGraphicFramePr>
          <p:cNvPr id="7" name="Table 6">
            <a:extLst>
              <a:ext uri="{FF2B5EF4-FFF2-40B4-BE49-F238E27FC236}">
                <a16:creationId xmlns:a16="http://schemas.microsoft.com/office/drawing/2014/main" id="{3A55DA40-E77B-9BBA-BE65-7F013E42C994}"/>
              </a:ext>
            </a:extLst>
          </p:cNvPr>
          <p:cNvGraphicFramePr>
            <a:graphicFrameLocks noGrp="1"/>
          </p:cNvGraphicFramePr>
          <p:nvPr>
            <p:extLst>
              <p:ext uri="{D42A27DB-BD31-4B8C-83A1-F6EECF244321}">
                <p14:modId xmlns:p14="http://schemas.microsoft.com/office/powerpoint/2010/main" val="2277718096"/>
              </p:ext>
            </p:extLst>
          </p:nvPr>
        </p:nvGraphicFramePr>
        <p:xfrm>
          <a:off x="0" y="672783"/>
          <a:ext cx="12192000" cy="5842445"/>
        </p:xfrm>
        <a:graphic>
          <a:graphicData uri="http://schemas.openxmlformats.org/drawingml/2006/table">
            <a:tbl>
              <a:tblPr firstRow="1" firstCol="1" bandRow="1">
                <a:tableStyleId>{22838BEF-8BB2-4498-84A7-C5851F593DF1}</a:tableStyleId>
              </a:tblPr>
              <a:tblGrid>
                <a:gridCol w="1016000">
                  <a:extLst>
                    <a:ext uri="{9D8B030D-6E8A-4147-A177-3AD203B41FA5}">
                      <a16:colId xmlns:a16="http://schemas.microsoft.com/office/drawing/2014/main" val="3867415840"/>
                    </a:ext>
                  </a:extLst>
                </a:gridCol>
                <a:gridCol w="6540500">
                  <a:extLst>
                    <a:ext uri="{9D8B030D-6E8A-4147-A177-3AD203B41FA5}">
                      <a16:colId xmlns:a16="http://schemas.microsoft.com/office/drawing/2014/main" val="2329674036"/>
                    </a:ext>
                  </a:extLst>
                </a:gridCol>
                <a:gridCol w="3378200">
                  <a:extLst>
                    <a:ext uri="{9D8B030D-6E8A-4147-A177-3AD203B41FA5}">
                      <a16:colId xmlns:a16="http://schemas.microsoft.com/office/drawing/2014/main" val="77315634"/>
                    </a:ext>
                  </a:extLst>
                </a:gridCol>
                <a:gridCol w="12573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a:t>
                      </a:r>
                    </a:p>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gn="l">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Stage XII – Implement</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l">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Implementation Summary</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Development of a </a:t>
                      </a:r>
                      <a:r>
                        <a:rPr lang="en-IN" sz="2000" b="1" kern="0" dirty="0">
                          <a:effectLst/>
                          <a:latin typeface="Cambria" panose="02040503050406030204" pitchFamily="18" charset="0"/>
                          <a:ea typeface="Cambria" panose="02040503050406030204" pitchFamily="18" charset="0"/>
                          <a:cs typeface="Mangal" panose="02040503050203030202" pitchFamily="18" charset="0"/>
                        </a:rPr>
                        <a:t>Cyber Warfare Economic Impact Analysis Model</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Collection of cyber attack data from </a:t>
                      </a:r>
                      <a:r>
                        <a:rPr lang="en-IN" sz="2000" b="1" kern="0" dirty="0">
                          <a:effectLst/>
                          <a:latin typeface="Cambria" panose="02040503050406030204" pitchFamily="18" charset="0"/>
                          <a:ea typeface="Cambria" panose="02040503050406030204" pitchFamily="18" charset="0"/>
                          <a:cs typeface="Mangal" panose="02040503050203030202" pitchFamily="18" charset="0"/>
                        </a:rPr>
                        <a:t>government reports, IMF, World Bank and cybersecurity industry reports</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Use of </a:t>
                      </a:r>
                      <a:r>
                        <a:rPr lang="en-IN" sz="2000" b="1" kern="0" dirty="0">
                          <a:effectLst/>
                          <a:latin typeface="Cambria" panose="02040503050406030204" pitchFamily="18" charset="0"/>
                          <a:ea typeface="Cambria" panose="02040503050406030204" pitchFamily="18" charset="0"/>
                          <a:cs typeface="Mangal" panose="02040503050203030202" pitchFamily="18" charset="0"/>
                        </a:rPr>
                        <a:t>data analysis tools (Power BI / Excel)</a:t>
                      </a:r>
                      <a:r>
                        <a:rPr lang="en-IN" sz="2000" kern="0" dirty="0">
                          <a:effectLst/>
                          <a:latin typeface="Cambria" panose="02040503050406030204" pitchFamily="18" charset="0"/>
                          <a:ea typeface="Cambria" panose="02040503050406030204" pitchFamily="18" charset="0"/>
                          <a:cs typeface="Mangal" panose="02040503050203030202" pitchFamily="18" charset="0"/>
                        </a:rPr>
                        <a:t> to create dashboards showing cyber attack trends and economic losses.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Identification of </a:t>
                      </a:r>
                      <a:r>
                        <a:rPr lang="en-IN" sz="2000" b="1" kern="0" dirty="0">
                          <a:effectLst/>
                          <a:latin typeface="Cambria" panose="02040503050406030204" pitchFamily="18" charset="0"/>
                          <a:ea typeface="Cambria" panose="02040503050406030204" pitchFamily="18" charset="0"/>
                          <a:cs typeface="Mangal" panose="02040503050203030202" pitchFamily="18" charset="0"/>
                        </a:rPr>
                        <a:t>vulnerable economic sectors</a:t>
                      </a:r>
                      <a:r>
                        <a:rPr lang="en-IN" sz="2000" kern="0" dirty="0">
                          <a:effectLst/>
                          <a:latin typeface="Cambria" panose="02040503050406030204" pitchFamily="18" charset="0"/>
                          <a:ea typeface="Cambria" panose="02040503050406030204" pitchFamily="18" charset="0"/>
                          <a:cs typeface="Mangal" panose="02040503050203030202" pitchFamily="18" charset="0"/>
                        </a:rPr>
                        <a:t> such as banking, digital payments, e-commerce and government infrastructure.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Development of </a:t>
                      </a:r>
                      <a:r>
                        <a:rPr lang="en-IN" sz="2000" b="1" kern="0" dirty="0">
                          <a:effectLst/>
                          <a:latin typeface="Cambria" panose="02040503050406030204" pitchFamily="18" charset="0"/>
                          <a:ea typeface="Cambria" panose="02040503050406030204" pitchFamily="18" charset="0"/>
                          <a:cs typeface="Mangal" panose="02040503050203030202" pitchFamily="18" charset="0"/>
                        </a:rPr>
                        <a:t>policy and economic strategies</a:t>
                      </a:r>
                      <a:r>
                        <a:rPr lang="en-IN" sz="2000" kern="0" dirty="0">
                          <a:effectLst/>
                          <a:latin typeface="Cambria" panose="02040503050406030204" pitchFamily="18" charset="0"/>
                          <a:ea typeface="Cambria" panose="02040503050406030204" pitchFamily="18" charset="0"/>
                          <a:cs typeface="Mangal" panose="02040503050203030202" pitchFamily="18" charset="0"/>
                        </a:rPr>
                        <a:t> to reduce cyber warfare risks.</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l">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Cost Estimate Details</a:t>
                      </a:r>
                      <a:r>
                        <a:rPr lang="en-IN" sz="2000" kern="0" dirty="0">
                          <a:effectLst/>
                          <a:latin typeface="Cambria" panose="02040503050406030204" pitchFamily="18" charset="0"/>
                          <a:ea typeface="Cambria" panose="02040503050406030204" pitchFamily="18" charset="0"/>
                          <a:cs typeface="Mangal" panose="02040503050203030202" pitchFamily="18" charset="0"/>
                        </a:rPr>
                        <a:t> Estimated resources required for project implementation: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Data collection &amp; research resources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Data analysis tools (Power BI / Excel)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Visualization tools (Canva / presentation tools)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Project documentation and reporting Most tools are </a:t>
                      </a:r>
                      <a:r>
                        <a:rPr lang="en-IN" sz="2000" b="1" kern="0" dirty="0">
                          <a:effectLst/>
                          <a:latin typeface="Cambria" panose="02040503050406030204" pitchFamily="18" charset="0"/>
                          <a:ea typeface="Cambria" panose="02040503050406030204" pitchFamily="18" charset="0"/>
                          <a:cs typeface="Mangal" panose="02040503050203030202" pitchFamily="18" charset="0"/>
                        </a:rPr>
                        <a:t>open-source or institutional resources</a:t>
                      </a:r>
                      <a:r>
                        <a:rPr lang="en-IN" sz="2000" kern="0" dirty="0">
                          <a:effectLst/>
                          <a:latin typeface="Cambria" panose="02040503050406030204" pitchFamily="18" charset="0"/>
                          <a:ea typeface="Cambria" panose="02040503050406030204" pitchFamily="18" charset="0"/>
                          <a:cs typeface="Mangal" panose="02040503050203030202" pitchFamily="18" charset="0"/>
                        </a:rPr>
                        <a:t>, so implementation cost is minimal.</a:t>
                      </a:r>
                      <a:endParaRPr lang="en-IN" sz="18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just">
                        <a:lnSpc>
                          <a:spcPct val="107000"/>
                        </a:lnSpc>
                        <a:spcAft>
                          <a:spcPts val="800"/>
                        </a:spcAft>
                        <a:buNone/>
                      </a:pPr>
                      <a:endParaRPr lang="en-IN" sz="11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79426733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5183217D-DE8D-E056-F6CB-FA72B41EA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D509D-7DA2-439B-31DE-FF57735A46DB}"/>
              </a:ext>
            </a:extLst>
          </p:cNvPr>
          <p:cNvSpPr>
            <a:spLocks noGrp="1"/>
          </p:cNvSpPr>
          <p:nvPr>
            <p:ph type="title" idx="4294967295"/>
          </p:nvPr>
        </p:nvSpPr>
        <p:spPr>
          <a:xfrm>
            <a:off x="0" y="-182880"/>
            <a:ext cx="12192000" cy="741363"/>
          </a:xfrm>
        </p:spPr>
        <p:txBody>
          <a:bodyPr anchor="b">
            <a:normAutofit/>
          </a:bodyPr>
          <a:lstStyle/>
          <a:p>
            <a:pPr algn="ctr"/>
            <a:r>
              <a:rPr lang="en-US" sz="3800" dirty="0">
                <a:latin typeface="Cambria" panose="02040503050406030204" pitchFamily="18" charset="0"/>
                <a:ea typeface="Cambria" panose="02040503050406030204" pitchFamily="18" charset="0"/>
              </a:rPr>
              <a:t>Phase 8 – Report:</a:t>
            </a:r>
          </a:p>
        </p:txBody>
      </p:sp>
      <p:graphicFrame>
        <p:nvGraphicFramePr>
          <p:cNvPr id="7" name="Table 6">
            <a:extLst>
              <a:ext uri="{FF2B5EF4-FFF2-40B4-BE49-F238E27FC236}">
                <a16:creationId xmlns:a16="http://schemas.microsoft.com/office/drawing/2014/main" id="{8E4E602A-BF86-8070-0FD3-D6A0FE7857E4}"/>
              </a:ext>
            </a:extLst>
          </p:cNvPr>
          <p:cNvGraphicFramePr>
            <a:graphicFrameLocks noGrp="1"/>
          </p:cNvGraphicFramePr>
          <p:nvPr>
            <p:extLst>
              <p:ext uri="{D42A27DB-BD31-4B8C-83A1-F6EECF244321}">
                <p14:modId xmlns:p14="http://schemas.microsoft.com/office/powerpoint/2010/main" val="3088141673"/>
              </p:ext>
            </p:extLst>
          </p:nvPr>
        </p:nvGraphicFramePr>
        <p:xfrm>
          <a:off x="0" y="487997"/>
          <a:ext cx="12192000" cy="6370003"/>
        </p:xfrm>
        <a:graphic>
          <a:graphicData uri="http://schemas.openxmlformats.org/drawingml/2006/table">
            <a:tbl>
              <a:tblPr firstRow="1" firstCol="1" bandRow="1">
                <a:tableStyleId>{22838BEF-8BB2-4498-84A7-C5851F593DF1}</a:tableStyleId>
              </a:tblPr>
              <a:tblGrid>
                <a:gridCol w="1016000">
                  <a:extLst>
                    <a:ext uri="{9D8B030D-6E8A-4147-A177-3AD203B41FA5}">
                      <a16:colId xmlns:a16="http://schemas.microsoft.com/office/drawing/2014/main" val="3867415840"/>
                    </a:ext>
                  </a:extLst>
                </a:gridCol>
                <a:gridCol w="5435600">
                  <a:extLst>
                    <a:ext uri="{9D8B030D-6E8A-4147-A177-3AD203B41FA5}">
                      <a16:colId xmlns:a16="http://schemas.microsoft.com/office/drawing/2014/main" val="2329674036"/>
                    </a:ext>
                  </a:extLst>
                </a:gridCol>
                <a:gridCol w="4483100">
                  <a:extLst>
                    <a:ext uri="{9D8B030D-6E8A-4147-A177-3AD203B41FA5}">
                      <a16:colId xmlns:a16="http://schemas.microsoft.com/office/drawing/2014/main" val="77315634"/>
                    </a:ext>
                  </a:extLst>
                </a:gridCol>
                <a:gridCol w="1257300">
                  <a:extLst>
                    <a:ext uri="{9D8B030D-6E8A-4147-A177-3AD203B41FA5}">
                      <a16:colId xmlns:a16="http://schemas.microsoft.com/office/drawing/2014/main" val="3260003017"/>
                    </a:ext>
                  </a:extLst>
                </a:gridCol>
              </a:tblGrid>
              <a:tr h="468948">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Stage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Tool</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Outcome</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tc>
                  <a:txBody>
                    <a:bodyPr/>
                    <a:lstStyle/>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Metrics/</a:t>
                      </a:r>
                    </a:p>
                    <a:p>
                      <a:pPr algn="ctr">
                        <a:lnSpc>
                          <a:spcPct val="107000"/>
                        </a:lnSpc>
                        <a:spcAft>
                          <a:spcPts val="800"/>
                        </a:spcAft>
                        <a:buNone/>
                      </a:pPr>
                      <a:r>
                        <a:rPr lang="en-IN" sz="2400" b="1" kern="100" dirty="0">
                          <a:effectLst/>
                          <a:latin typeface="Cambria" panose="02040503050406030204" pitchFamily="18" charset="0"/>
                          <a:ea typeface="Cambria" panose="02040503050406030204" pitchFamily="18" charset="0"/>
                        </a:rPr>
                        <a:t>Rubrics</a:t>
                      </a:r>
                      <a:endParaRPr lang="en-IN" sz="2400" b="1"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nchor="ctr">
                    <a:solidFill>
                      <a:schemeClr val="accent4">
                        <a:lumMod val="40000"/>
                        <a:lumOff val="60000"/>
                      </a:schemeClr>
                    </a:solidFill>
                  </a:tcPr>
                </a:tc>
                <a:extLst>
                  <a:ext uri="{0D108BD9-81ED-4DB2-BD59-A6C34878D82A}">
                    <a16:rowId xmlns:a16="http://schemas.microsoft.com/office/drawing/2014/main" val="2349443188"/>
                  </a:ext>
                </a:extLst>
              </a:tr>
              <a:tr h="2187575">
                <a:tc>
                  <a:txBody>
                    <a:bodyPr/>
                    <a:lstStyle/>
                    <a:p>
                      <a:pPr algn="l">
                        <a:lnSpc>
                          <a:spcPct val="107000"/>
                        </a:lnSpc>
                        <a:spcAft>
                          <a:spcPts val="800"/>
                        </a:spcAft>
                        <a:buNone/>
                      </a:pPr>
                      <a:r>
                        <a:rPr lang="en-IN" sz="1600" b="1" kern="0" dirty="0">
                          <a:effectLst/>
                          <a:latin typeface="Cambria" panose="02040503050406030204" pitchFamily="18" charset="0"/>
                          <a:ea typeface="Cambria" panose="02040503050406030204" pitchFamily="18" charset="0"/>
                          <a:cs typeface="Mangal" panose="02040503050203030202" pitchFamily="18" charset="0"/>
                        </a:rPr>
                        <a:t>Stage XIII – Report / Inference Report</a:t>
                      </a:r>
                      <a:endParaRPr lang="en-IN" sz="1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l">
                        <a:lnSpc>
                          <a:spcPct val="107000"/>
                        </a:lnSpc>
                        <a:spcAft>
                          <a:spcPts val="800"/>
                        </a:spcAft>
                        <a:buNone/>
                      </a:pPr>
                      <a:r>
                        <a:rPr lang="en-IN" sz="2000" b="1" kern="0" dirty="0">
                          <a:effectLst/>
                          <a:latin typeface="Cambria" panose="02040503050406030204" pitchFamily="18" charset="0"/>
                          <a:ea typeface="Cambria" panose="02040503050406030204" pitchFamily="18" charset="0"/>
                          <a:cs typeface="Mangal" panose="02040503050203030202" pitchFamily="18" charset="0"/>
                        </a:rPr>
                        <a:t>Project Report Preparation</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Documentation of the </a:t>
                      </a:r>
                      <a:r>
                        <a:rPr lang="en-IN" sz="2000" b="1" kern="0" dirty="0">
                          <a:effectLst/>
                          <a:latin typeface="Cambria" panose="02040503050406030204" pitchFamily="18" charset="0"/>
                          <a:ea typeface="Cambria" panose="02040503050406030204" pitchFamily="18" charset="0"/>
                          <a:cs typeface="Mangal" panose="02040503050203030202" pitchFamily="18" charset="0"/>
                        </a:rPr>
                        <a:t>design thinking process</a:t>
                      </a:r>
                      <a:r>
                        <a:rPr lang="en-IN" sz="2000" kern="0" dirty="0">
                          <a:effectLst/>
                          <a:latin typeface="Cambria" panose="02040503050406030204" pitchFamily="18" charset="0"/>
                          <a:ea typeface="Cambria" panose="02040503050406030204" pitchFamily="18" charset="0"/>
                          <a:cs typeface="Mangal" panose="02040503050203030202" pitchFamily="18" charset="0"/>
                        </a:rPr>
                        <a:t> used in the project.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Presentation of </a:t>
                      </a:r>
                      <a:r>
                        <a:rPr lang="en-IN" sz="2000" b="1" kern="0" dirty="0">
                          <a:effectLst/>
                          <a:latin typeface="Cambria" panose="02040503050406030204" pitchFamily="18" charset="0"/>
                          <a:ea typeface="Cambria" panose="02040503050406030204" pitchFamily="18" charset="0"/>
                          <a:cs typeface="Mangal" panose="02040503050203030202" pitchFamily="18" charset="0"/>
                        </a:rPr>
                        <a:t>case study findings of cyber warfare incidents</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Analysis of </a:t>
                      </a:r>
                      <a:r>
                        <a:rPr lang="en-IN" sz="2000" b="1" kern="0" dirty="0">
                          <a:effectLst/>
                          <a:latin typeface="Cambria" panose="02040503050406030204" pitchFamily="18" charset="0"/>
                          <a:ea typeface="Cambria" panose="02040503050406030204" pitchFamily="18" charset="0"/>
                          <a:cs typeface="Mangal" panose="02040503050203030202" pitchFamily="18" charset="0"/>
                        </a:rPr>
                        <a:t>economic consequences such as financial losses, disruption of trade, and decline in investor confidence</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Presentation of </a:t>
                      </a:r>
                      <a:r>
                        <a:rPr lang="en-IN" sz="2000" b="1" kern="0" dirty="0">
                          <a:effectLst/>
                          <a:latin typeface="Cambria" panose="02040503050406030204" pitchFamily="18" charset="0"/>
                          <a:ea typeface="Cambria" panose="02040503050406030204" pitchFamily="18" charset="0"/>
                          <a:cs typeface="Mangal" panose="02040503050203030202" pitchFamily="18" charset="0"/>
                        </a:rPr>
                        <a:t>data visualization dashboards and cyber risk mapping results</a:t>
                      </a:r>
                      <a:r>
                        <a:rPr lang="en-IN" sz="2000" kern="0" dirty="0">
                          <a:effectLst/>
                          <a:latin typeface="Cambria" panose="02040503050406030204" pitchFamily="18" charset="0"/>
                          <a:ea typeface="Cambria" panose="02040503050406030204" pitchFamily="18" charset="0"/>
                          <a:cs typeface="Mangal" panose="02040503050203030202" pitchFamily="18" charset="0"/>
                        </a:rPr>
                        <a:t>. </a:t>
                      </a:r>
                    </a:p>
                    <a:p>
                      <a:pPr algn="l">
                        <a:lnSpc>
                          <a:spcPct val="107000"/>
                        </a:lnSpc>
                        <a:spcAft>
                          <a:spcPts val="800"/>
                        </a:spcAft>
                        <a:buNone/>
                      </a:pPr>
                      <a:r>
                        <a:rPr lang="en-IN" sz="2000" kern="0" dirty="0">
                          <a:effectLst/>
                          <a:latin typeface="Cambria" panose="02040503050406030204" pitchFamily="18" charset="0"/>
                          <a:ea typeface="Cambria" panose="02040503050406030204" pitchFamily="18" charset="0"/>
                          <a:cs typeface="Mangal" panose="02040503050203030202" pitchFamily="18" charset="0"/>
                        </a:rPr>
                        <a:t>• Preparation of </a:t>
                      </a:r>
                      <a:r>
                        <a:rPr lang="en-IN" sz="2000" b="1" kern="0" dirty="0">
                          <a:effectLst/>
                          <a:latin typeface="Cambria" panose="02040503050406030204" pitchFamily="18" charset="0"/>
                          <a:ea typeface="Cambria" panose="02040503050406030204" pitchFamily="18" charset="0"/>
                          <a:cs typeface="Mangal" panose="02040503050203030202" pitchFamily="18" charset="0"/>
                        </a:rPr>
                        <a:t>policy recommendations and economic strategies to mitigate cyber warfare risks</a:t>
                      </a:r>
                      <a:r>
                        <a:rPr lang="en-IN" sz="2000" kern="0" dirty="0">
                          <a:effectLst/>
                          <a:latin typeface="Cambria" panose="02040503050406030204" pitchFamily="18" charset="0"/>
                          <a:ea typeface="Cambria" panose="02040503050406030204" pitchFamily="18" charset="0"/>
                          <a:cs typeface="Mangal" panose="02040503050203030202" pitchFamily="18" charset="0"/>
                        </a:rPr>
                        <a:t>.</a:t>
                      </a:r>
                      <a:endParaRPr lang="en-IN" sz="1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l">
                        <a:lnSpc>
                          <a:spcPct val="107000"/>
                        </a:lnSpc>
                        <a:spcAft>
                          <a:spcPts val="800"/>
                        </a:spcAft>
                        <a:buNone/>
                      </a:pPr>
                      <a:r>
                        <a:rPr lang="en-IN" sz="1800" b="1" kern="0" dirty="0">
                          <a:effectLst/>
                          <a:latin typeface="Cambria" panose="02040503050406030204" pitchFamily="18" charset="0"/>
                          <a:ea typeface="Cambria" panose="02040503050406030204" pitchFamily="18" charset="0"/>
                          <a:cs typeface="Mangal" panose="02040503050203030202" pitchFamily="18" charset="0"/>
                        </a:rPr>
                        <a:t>Benefits and Stakeholders</a:t>
                      </a:r>
                      <a:r>
                        <a:rPr lang="en-IN" sz="1800" kern="0" dirty="0">
                          <a:effectLst/>
                          <a:latin typeface="Cambria" panose="02040503050406030204" pitchFamily="18" charset="0"/>
                          <a:ea typeface="Cambria" panose="02040503050406030204" pitchFamily="18" charset="0"/>
                          <a:cs typeface="Mangal" panose="02040503050203030202" pitchFamily="18" charset="0"/>
                        </a:rPr>
                        <a:t> </a:t>
                      </a:r>
                    </a:p>
                    <a:p>
                      <a:pPr algn="l">
                        <a:lnSpc>
                          <a:spcPct val="107000"/>
                        </a:lnSpc>
                        <a:spcAft>
                          <a:spcPts val="80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a:t>
                      </a:r>
                      <a:r>
                        <a:rPr lang="en-IN" sz="1800" b="1" kern="0" dirty="0">
                          <a:effectLst/>
                          <a:latin typeface="Cambria" panose="02040503050406030204" pitchFamily="18" charset="0"/>
                          <a:ea typeface="Cambria" panose="02040503050406030204" pitchFamily="18" charset="0"/>
                          <a:cs typeface="Mangal" panose="02040503050203030202" pitchFamily="18" charset="0"/>
                        </a:rPr>
                        <a:t>Students:</a:t>
                      </a:r>
                      <a:r>
                        <a:rPr lang="en-IN" sz="1800" kern="0" dirty="0">
                          <a:effectLst/>
                          <a:latin typeface="Cambria" panose="02040503050406030204" pitchFamily="18" charset="0"/>
                          <a:ea typeface="Cambria" panose="02040503050406030204" pitchFamily="18" charset="0"/>
                          <a:cs typeface="Mangal" panose="02040503050203030202" pitchFamily="18" charset="0"/>
                        </a:rPr>
                        <a:t> Develop research skills, data analysis abilities, and understanding of the economic implications of cyber warfare through project-based learning. </a:t>
                      </a:r>
                    </a:p>
                    <a:p>
                      <a:pPr algn="l">
                        <a:lnSpc>
                          <a:spcPct val="107000"/>
                        </a:lnSpc>
                        <a:spcAft>
                          <a:spcPts val="80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a:t>
                      </a:r>
                      <a:r>
                        <a:rPr lang="en-IN" sz="1800" b="1" kern="0" dirty="0">
                          <a:effectLst/>
                          <a:latin typeface="Cambria" panose="02040503050406030204" pitchFamily="18" charset="0"/>
                          <a:ea typeface="Cambria" panose="02040503050406030204" pitchFamily="18" charset="0"/>
                          <a:cs typeface="Mangal" panose="02040503050203030202" pitchFamily="18" charset="0"/>
                        </a:rPr>
                        <a:t>Government and Policymakers:</a:t>
                      </a:r>
                      <a:r>
                        <a:rPr lang="en-IN" sz="1800" kern="0" dirty="0">
                          <a:effectLst/>
                          <a:latin typeface="Cambria" panose="02040503050406030204" pitchFamily="18" charset="0"/>
                          <a:ea typeface="Cambria" panose="02040503050406030204" pitchFamily="18" charset="0"/>
                          <a:cs typeface="Mangal" panose="02040503050203030202" pitchFamily="18" charset="0"/>
                        </a:rPr>
                        <a:t> Helps in identifying economic vulnerabilities and formulating cybersecurity policies. </a:t>
                      </a:r>
                    </a:p>
                    <a:p>
                      <a:pPr algn="l">
                        <a:lnSpc>
                          <a:spcPct val="107000"/>
                        </a:lnSpc>
                        <a:spcAft>
                          <a:spcPts val="80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a:t>
                      </a:r>
                      <a:r>
                        <a:rPr lang="en-IN" sz="1800" b="1" kern="0" dirty="0">
                          <a:effectLst/>
                          <a:latin typeface="Cambria" panose="02040503050406030204" pitchFamily="18" charset="0"/>
                          <a:ea typeface="Cambria" panose="02040503050406030204" pitchFamily="18" charset="0"/>
                          <a:cs typeface="Mangal" panose="02040503050203030202" pitchFamily="18" charset="0"/>
                        </a:rPr>
                        <a:t>Businesses and Financial Institutions:</a:t>
                      </a:r>
                      <a:r>
                        <a:rPr lang="en-IN" sz="1800" kern="0" dirty="0">
                          <a:effectLst/>
                          <a:latin typeface="Cambria" panose="02040503050406030204" pitchFamily="18" charset="0"/>
                          <a:ea typeface="Cambria" panose="02040503050406030204" pitchFamily="18" charset="0"/>
                          <a:cs typeface="Mangal" panose="02040503050203030202" pitchFamily="18" charset="0"/>
                        </a:rPr>
                        <a:t> Provides insights to strengthen cybersecurity infrastructure and reduce financial losses. </a:t>
                      </a:r>
                    </a:p>
                    <a:p>
                      <a:pPr algn="l">
                        <a:lnSpc>
                          <a:spcPct val="107000"/>
                        </a:lnSpc>
                        <a:spcAft>
                          <a:spcPts val="80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a:t>
                      </a:r>
                      <a:r>
                        <a:rPr lang="en-IN" sz="1800" b="1" kern="0" dirty="0">
                          <a:effectLst/>
                          <a:latin typeface="Cambria" panose="02040503050406030204" pitchFamily="18" charset="0"/>
                          <a:ea typeface="Cambria" panose="02040503050406030204" pitchFamily="18" charset="0"/>
                          <a:cs typeface="Mangal" panose="02040503050203030202" pitchFamily="18" charset="0"/>
                        </a:rPr>
                        <a:t>Investors and Economic Planners:</a:t>
                      </a:r>
                      <a:r>
                        <a:rPr lang="en-IN" sz="1800" kern="0" dirty="0">
                          <a:effectLst/>
                          <a:latin typeface="Cambria" panose="02040503050406030204" pitchFamily="18" charset="0"/>
                          <a:ea typeface="Cambria" panose="02040503050406030204" pitchFamily="18" charset="0"/>
                          <a:cs typeface="Mangal" panose="02040503050203030202" pitchFamily="18" charset="0"/>
                        </a:rPr>
                        <a:t> Helps understand cyber risks affecting markets and economic stability. </a:t>
                      </a:r>
                    </a:p>
                    <a:p>
                      <a:pPr algn="l">
                        <a:lnSpc>
                          <a:spcPct val="107000"/>
                        </a:lnSpc>
                        <a:spcAft>
                          <a:spcPts val="800"/>
                        </a:spcAft>
                        <a:buNone/>
                      </a:pPr>
                      <a:r>
                        <a:rPr lang="en-IN" sz="1800" kern="0" dirty="0">
                          <a:effectLst/>
                          <a:latin typeface="Cambria" panose="02040503050406030204" pitchFamily="18" charset="0"/>
                          <a:ea typeface="Cambria" panose="02040503050406030204" pitchFamily="18" charset="0"/>
                          <a:cs typeface="Mangal" panose="02040503050203030202" pitchFamily="18" charset="0"/>
                        </a:rPr>
                        <a:t>• </a:t>
                      </a:r>
                      <a:r>
                        <a:rPr lang="en-IN" sz="1800" b="1" kern="0" dirty="0">
                          <a:effectLst/>
                          <a:latin typeface="Cambria" panose="02040503050406030204" pitchFamily="18" charset="0"/>
                          <a:ea typeface="Cambria" panose="02040503050406030204" pitchFamily="18" charset="0"/>
                          <a:cs typeface="Mangal" panose="02040503050203030202" pitchFamily="18" charset="0"/>
                        </a:rPr>
                        <a:t>Society / Digital Users:</a:t>
                      </a:r>
                      <a:r>
                        <a:rPr lang="en-IN" sz="1800" kern="0" dirty="0">
                          <a:effectLst/>
                          <a:latin typeface="Cambria" panose="02040503050406030204" pitchFamily="18" charset="0"/>
                          <a:ea typeface="Cambria" panose="02040503050406030204" pitchFamily="18" charset="0"/>
                          <a:cs typeface="Mangal" panose="02040503050203030202" pitchFamily="18" charset="0"/>
                        </a:rPr>
                        <a:t> Increases awareness about cybersecurity threats and safe digital practices.</a:t>
                      </a:r>
                      <a:endParaRPr lang="en-IN" sz="14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tc>
                  <a:txBody>
                    <a:bodyPr/>
                    <a:lstStyle/>
                    <a:p>
                      <a:pPr algn="just">
                        <a:lnSpc>
                          <a:spcPct val="107000"/>
                        </a:lnSpc>
                        <a:spcAft>
                          <a:spcPts val="800"/>
                        </a:spcAft>
                        <a:buNone/>
                      </a:pPr>
                      <a:endParaRPr lang="en-IN" sz="1100" kern="100" dirty="0">
                        <a:effectLst/>
                        <a:latin typeface="Cambria" panose="02040503050406030204" pitchFamily="18" charset="0"/>
                        <a:ea typeface="Cambria" panose="0204050305040603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2529359600"/>
                  </a:ext>
                </a:extLst>
              </a:tr>
            </a:tbl>
          </a:graphicData>
        </a:graphic>
      </p:graphicFrame>
    </p:spTree>
    <p:extLst>
      <p:ext uri="{BB962C8B-B14F-4D97-AF65-F5344CB8AC3E}">
        <p14:creationId xmlns:p14="http://schemas.microsoft.com/office/powerpoint/2010/main" val="2962853775"/>
      </p:ext>
    </p:extLst>
  </p:cSld>
  <p:clrMapOvr>
    <a:masterClrMapping/>
  </p:clrMapOvr>
  <p:transition>
    <p:fade/>
  </p:transition>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7134</Words>
  <Application>Microsoft Office PowerPoint</Application>
  <PresentationFormat>Widescreen</PresentationFormat>
  <Paragraphs>316</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Bahnschrift SemiLight</vt:lpstr>
      <vt:lpstr>Calibri</vt:lpstr>
      <vt:lpstr>Cambria</vt:lpstr>
      <vt:lpstr>Times New Roman</vt:lpstr>
      <vt:lpstr>Blockwork elegance</vt:lpstr>
      <vt:lpstr>Capstone Project:  Economic Impact of Cyber Warfare</vt:lpstr>
      <vt:lpstr>Project Context and  Problem Statement</vt:lpstr>
      <vt:lpstr>Problem Statement and Economic Relevance of Cyber Warfare</vt:lpstr>
      <vt:lpstr>Objectives,  Goals,   Project Planning, Requirements,  Solution. </vt:lpstr>
      <vt:lpstr>Objectives of the Project</vt:lpstr>
      <vt:lpstr>Goals of the Project</vt:lpstr>
      <vt:lpstr>Project Planning</vt:lpstr>
      <vt:lpstr>Requirements and Specifications</vt:lpstr>
      <vt:lpstr>Solution Model/Outcome</vt:lpstr>
      <vt:lpstr>Design Thinking Phases</vt:lpstr>
      <vt:lpstr>Phase I – Scope:</vt:lpstr>
      <vt:lpstr>Phase I – Scope:</vt:lpstr>
      <vt:lpstr>Phase 2 – empathy:</vt:lpstr>
      <vt:lpstr>Phase 3 – define:</vt:lpstr>
      <vt:lpstr>Phase 4 – ideate:</vt:lpstr>
      <vt:lpstr>PowerPoint Presentation</vt:lpstr>
      <vt:lpstr>Phase 5 – prototype:</vt:lpstr>
      <vt:lpstr>Phase 5 – prototype:</vt:lpstr>
      <vt:lpstr>Phase 5 – prototype:</vt:lpstr>
      <vt:lpstr>Phase 6 – validation:</vt:lpstr>
      <vt:lpstr>Outcomes:</vt:lpstr>
      <vt:lpstr>Phase 7 – implementation:</vt:lpstr>
      <vt:lpstr>Phase 8 – Report: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mitali.sawant@bkbck.edu.in</dc:creator>
  <cp:lastModifiedBy>Mitali Sawant</cp:lastModifiedBy>
  <cp:revision>37</cp:revision>
  <dcterms:modified xsi:type="dcterms:W3CDTF">2026-03-10T09:42:38Z</dcterms:modified>
</cp:coreProperties>
</file>